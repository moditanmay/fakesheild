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353" r:id="rId4"/>
    <p:sldId id="331" r:id="rId5"/>
    <p:sldId id="354" r:id="rId6"/>
    <p:sldId id="355" r:id="rId7"/>
    <p:sldId id="344" r:id="rId8"/>
    <p:sldId id="283" r:id="rId9"/>
    <p:sldId id="345" r:id="rId10"/>
    <p:sldId id="346" r:id="rId11"/>
    <p:sldId id="356" r:id="rId12"/>
    <p:sldId id="365" r:id="rId13"/>
    <p:sldId id="349" r:id="rId14"/>
    <p:sldId id="357" r:id="rId15"/>
    <p:sldId id="358" r:id="rId16"/>
    <p:sldId id="359" r:id="rId17"/>
    <p:sldId id="360" r:id="rId18"/>
    <p:sldId id="361" r:id="rId19"/>
    <p:sldId id="362" r:id="rId20"/>
    <p:sldId id="363" r:id="rId21"/>
    <p:sldId id="364" r:id="rId22"/>
    <p:sldId id="350" r:id="rId23"/>
    <p:sldId id="352" r:id="rId24"/>
    <p:sldId id="34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ADBD0C-8620-4DFE-8081-C714C5543238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78DE06-C7A7-4470-B029-C16766ADF4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8731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394970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D7CAF-0D56-48A8-A5E8-82617C4D9E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F09C65-CE75-4F2A-A9AF-DB4CF44DAD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6FE962-45A2-41E6-B3F2-F0046715D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09CC3-AD04-4745-B870-C01A54A89AAD}" type="datetime1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E393E-B859-46CD-95DF-3F887CA7A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[Project Title]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9DE80-92FF-4B28-9AE4-F5D20817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05EB9-5EDD-4E99-8557-C45C7E5718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702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7175B-5503-4217-92D4-E56C9F96C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9D99-1DA9-40D0-A050-B2181501F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6C8EA-3E74-4C74-95E2-3ACD9C6FB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0FBB6-EC5B-494D-BAC4-1075B90741D1}" type="datetime1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9F8CF-ADA9-45D9-A4F4-BD88E78DF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[Project Title]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285D4B-1A0A-485D-B18C-BFBA5BDDD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05EB9-5EDD-4E99-8557-C45C7E5718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167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E5CB2-93A5-40FF-93AD-7A508FC7C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9472A7-3EEC-41A6-8CCC-CFE5595252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AD9BD2-F912-4694-89AC-7E11DFFED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DC572-6A9A-49D4-889A-EB14144C7D19}" type="datetime1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7D63D-63C9-494D-B1CF-8CCD8F652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[Project Title]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EB31E8-FB83-4ABF-8B1D-93F3349B9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05EB9-5EDD-4E99-8557-C45C7E5718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4589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4D644-A557-452C-A751-F11942FA2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CFA8A-CA97-44BC-8519-43AE683CD4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5A8023-E107-4231-A752-CEBF7B02CA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B1438A-CDAA-4FC7-8099-7E3DEE0EA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991F9-72C3-468F-A97F-667B8EB401F6}" type="datetime1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865B0C-542F-4769-935B-002E8510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[Project Title]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43FDC9-55D4-4A22-BCF7-D6BB73FA2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05EB9-5EDD-4E99-8557-C45C7E5718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1903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D5630-1160-4998-9098-841851D5E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3C1B5D-00DE-442D-A125-FA9AA23FA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76E8A3-A2D4-4178-8BEA-F74B2138F6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12210E-645C-4FE1-B4A0-FCA143F039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EEE3CA-268B-4482-B848-5B5574435D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C337F4-02BE-49D3-A729-F8C7953FD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D17F1-C198-4198-BA56-73581018A314}" type="datetime1">
              <a:rPr lang="en-IN" smtClean="0"/>
              <a:t>28-04-2026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A9A21A-F287-4702-BF12-333244E17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[Project Title]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D09294-B7F5-4FF3-B778-B92407B7C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05EB9-5EDD-4E99-8557-C45C7E5718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3853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FE9DB-1CC9-4C75-959E-E7618FB74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D5CA3D-8AE5-410E-A45E-E5C4A69A6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44769-C6EE-4A20-A22F-E6593CDA0271}" type="datetime1">
              <a:rPr lang="en-IN" smtClean="0"/>
              <a:t>28-04-2026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A25568-9F7D-4732-AFDC-9FC3C02F3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[Project Title]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7476D9-050E-4AB9-ACB9-AFA9DD974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05EB9-5EDD-4E99-8557-C45C7E5718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7044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1CB1A2-1A5F-4D4C-AFF8-88D286A53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4A672-F035-4675-BDBE-4F505B58DA9D}" type="datetime1">
              <a:rPr lang="en-IN" smtClean="0"/>
              <a:t>28-04-2026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2F40D4-0818-48D7-B602-5E18D8B2B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[Project Title]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F7BCED-3883-4938-8F45-79B85903A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05EB9-5EDD-4E99-8557-C45C7E5718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5357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E5209-4941-410E-BF79-47951F8A3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7153E-ED9F-4F02-A45C-A67D9ED41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C98938-88FE-4173-A283-9CBFA18F8F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E72BB1-0C49-4846-A23D-2F463C2E2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2CE0A-A929-49A6-9985-CC8FC5BCA283}" type="datetime1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AC0299-8696-4646-B4F5-93413503B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[Project Title]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AE1201-8CA3-41D3-B9EA-1345F590E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05EB9-5EDD-4E99-8557-C45C7E5718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1019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01031-5491-48EC-AE20-458A7ED50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6C3482-87E0-4FC0-BFEB-6208ECF666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60EC06-A18D-44F7-900C-1D81001575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195BC0-7848-4D56-978E-FCD7A976D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BF69E-686E-4521-B8E5-14713AF08707}" type="datetime1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9DF8DE-A929-4327-B78C-AC48F5F59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[Project Title]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FA3C76-EA50-42EE-A999-6D08680FB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05EB9-5EDD-4E99-8557-C45C7E5718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9011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D3FAB-8296-4C7F-94B1-B949FC491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3EAD6C-2DA4-452A-BE4F-8D40735F64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4D9F34-C8CE-4319-B84A-A10A7E36C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F1691-88D1-49CB-B484-A3CD5BAEEF92}" type="datetime1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9BA45-CACB-4ABD-918D-C3EB2956D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[Project Title]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B3CB1-0CC4-4EA1-AFD5-6998CF304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05EB9-5EDD-4E99-8557-C45C7E5718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7966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4BF153-31E7-4DE8-A14F-FA4001DC88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83F5C-111D-4878-8FCC-4910939D70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A0202-14B3-49BE-8E17-4AA2D9D41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62F04-79EF-41EC-A7E0-7E9F9CE74766}" type="datetime1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18294-B8C0-416E-BFF8-ECD210BB4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[Project Title]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18737A-8A5D-4F73-8EA8-F282E64DE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05EB9-5EDD-4E99-8557-C45C7E5718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6956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DDFFC8-C5B6-4DCA-8FC1-C7D62E1BC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1BC769-D0D8-4509-A02A-950D66E23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D81CA-51CF-40A0-8B92-142221A823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A0FE9-F5D1-4781-A0E2-2F13721D95A2}" type="datetime1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1B3C6-A070-4BEB-ACF5-4C4BA4B36C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[Project Title]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9DA42-6598-44E7-9A31-367C91AD52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805EB9-5EDD-4E99-8557-C45C7E5718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3633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65BF141-1952-46AE-B9EC-8EB298CDFD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7917" y="3426444"/>
            <a:ext cx="9144000" cy="1655762"/>
          </a:xfrm>
        </p:spPr>
        <p:txBody>
          <a:bodyPr>
            <a:normAutofit/>
          </a:bodyPr>
          <a:lstStyle/>
          <a:p>
            <a:r>
              <a:rPr lang="en-US" sz="2000" b="1" i="0" u="none" strike="noStrike" baseline="0" dirty="0">
                <a:solidFill>
                  <a:srgbClr val="002060"/>
                </a:solidFill>
                <a:latin typeface="Arial-BoldMT"/>
              </a:rPr>
              <a:t>M</a:t>
            </a:r>
            <a:r>
              <a:rPr lang="en-US" sz="2000" b="0" i="0" u="none" strike="noStrike" baseline="0" dirty="0">
                <a:solidFill>
                  <a:srgbClr val="002060"/>
                </a:solidFill>
                <a:latin typeface="SHREE_GUJ_OTF_0770" panose="02000600000000000000" pitchFamily="2"/>
                <a:cs typeface="SHREE_GUJ_OTF_0770" panose="02000600000000000000" pitchFamily="2"/>
              </a:rPr>
              <a:t>.</a:t>
            </a:r>
            <a:r>
              <a:rPr lang="en-US" sz="2000" b="1" i="0" u="none" strike="noStrike" baseline="0" dirty="0">
                <a:solidFill>
                  <a:srgbClr val="002060"/>
                </a:solidFill>
                <a:latin typeface="Arial-BoldMT"/>
                <a:cs typeface="SHREE_GUJ_OTF_0770" panose="02000600000000000000" pitchFamily="2"/>
              </a:rPr>
              <a:t>Sc</a:t>
            </a:r>
            <a:r>
              <a:rPr lang="en-US" sz="2000" b="0" i="0" u="none" strike="noStrike" baseline="0" dirty="0">
                <a:solidFill>
                  <a:srgbClr val="002060"/>
                </a:solidFill>
                <a:latin typeface="SHREE_GUJ_OTF_0770" panose="02000600000000000000" pitchFamily="2"/>
                <a:cs typeface="SHREE_GUJ_OTF_0770" panose="02000600000000000000" pitchFamily="2"/>
              </a:rPr>
              <a:t>. </a:t>
            </a:r>
            <a:r>
              <a:rPr lang="en-US" sz="2000" b="1" i="0" u="none" strike="noStrike" baseline="0" dirty="0">
                <a:solidFill>
                  <a:srgbClr val="002060"/>
                </a:solidFill>
                <a:latin typeface="Arial-BoldMT"/>
                <a:cs typeface="SHREE_GUJ_OTF_0770" panose="02000600000000000000" pitchFamily="2"/>
              </a:rPr>
              <a:t>Cyber Security </a:t>
            </a:r>
            <a:r>
              <a:rPr lang="en-US" sz="2000" b="0" i="0" u="none" strike="noStrike" baseline="0" dirty="0">
                <a:solidFill>
                  <a:srgbClr val="002060"/>
                </a:solidFill>
                <a:latin typeface="SHREE_GUJ_OTF_0770" panose="02000600000000000000" pitchFamily="2"/>
                <a:cs typeface="SHREE_GUJ_OTF_0770" panose="02000600000000000000" pitchFamily="2"/>
              </a:rPr>
              <a:t>– </a:t>
            </a:r>
            <a:r>
              <a:rPr lang="en-US" sz="2000" b="1" i="0" u="none" strike="noStrike" baseline="0" dirty="0">
                <a:solidFill>
                  <a:srgbClr val="002060"/>
                </a:solidFill>
                <a:latin typeface="Arial-BoldMT"/>
                <a:cs typeface="SHREE_GUJ_OTF_0770" panose="02000600000000000000" pitchFamily="2"/>
              </a:rPr>
              <a:t>Semester-04</a:t>
            </a:r>
            <a:endParaRPr lang="en-US" sz="2000" b="1" dirty="0">
              <a:solidFill>
                <a:srgbClr val="002060"/>
              </a:solidFill>
              <a:highlight>
                <a:srgbClr val="FFFF00"/>
              </a:highlight>
              <a:latin typeface="PT Serif" panose="020A0603040505020204" pitchFamily="18" charset="0"/>
            </a:endParaRPr>
          </a:p>
          <a:p>
            <a:r>
              <a:rPr lang="en-US" sz="2000" b="1" dirty="0">
                <a:solidFill>
                  <a:srgbClr val="002060"/>
                </a:solidFill>
                <a:latin typeface="PT Serif" panose="020A0603040505020204" pitchFamily="18" charset="0"/>
              </a:rPr>
              <a:t>School of Cyber Security and Digital Forensics</a:t>
            </a:r>
          </a:p>
          <a:p>
            <a:r>
              <a:rPr lang="en-US" sz="2000" b="1" dirty="0">
                <a:solidFill>
                  <a:srgbClr val="002060"/>
                </a:solidFill>
                <a:latin typeface="PT Serif" panose="020A0603040505020204" pitchFamily="18" charset="0"/>
              </a:rPr>
              <a:t>NFSU, Gandhinagar</a:t>
            </a:r>
          </a:p>
          <a:p>
            <a:r>
              <a:rPr lang="en-US" sz="2000" b="1" dirty="0">
                <a:solidFill>
                  <a:srgbClr val="002060"/>
                </a:solidFill>
                <a:latin typeface="PT Serif" panose="020A0603040505020204" pitchFamily="18" charset="0"/>
              </a:rPr>
              <a:t>April, 2026</a:t>
            </a:r>
            <a:endParaRPr lang="en-IN" sz="2000" b="1" dirty="0">
              <a:solidFill>
                <a:srgbClr val="002060"/>
              </a:solidFill>
              <a:latin typeface="PT Serif" panose="020A06030405050202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C73ED-118F-424A-843F-E48012BF7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A7D8E-5D17-458C-83A2-94AAF1C19292}" type="datetime1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26DAD9-E1DA-4973-8E63-9DBE002B6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[Project Title]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A6C23-3637-41A1-A9FC-CD5455441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05EB9-5EDD-4E99-8557-C45C7E571854}" type="slidenum">
              <a:rPr lang="en-IN" smtClean="0"/>
              <a:t>1</a:t>
            </a:fld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6F6AF37-D95B-432F-BCD3-D943D379DBB0}"/>
              </a:ext>
            </a:extLst>
          </p:cNvPr>
          <p:cNvSpPr/>
          <p:nvPr/>
        </p:nvSpPr>
        <p:spPr>
          <a:xfrm>
            <a:off x="2333484" y="925342"/>
            <a:ext cx="7525031" cy="1462099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050" eaLnBrk="1" fontAlgn="auto">
              <a:spcBef>
                <a:spcPts val="600"/>
              </a:spcBef>
              <a:spcAft>
                <a:spcPts val="0"/>
              </a:spcAft>
              <a:defRPr>
                <a:solidFill>
                  <a:srgbClr val="3B1F4E"/>
                </a:solidFill>
                <a:latin typeface="Bahnschrift Condensed"/>
                <a:ea typeface="Bahnschrift Condensed"/>
                <a:cs typeface="Bahnschrift Condensed"/>
                <a:sym typeface="Bahnschrift Condensed"/>
              </a:defRPr>
            </a:pPr>
            <a:endParaRPr lang="en-US" sz="2800" kern="0" dirty="0">
              <a:solidFill>
                <a:schemeClr val="bg1"/>
              </a:solidFill>
              <a:latin typeface="Century" pitchFamily="18" charset="0"/>
              <a:ea typeface="Verdana" panose="020B0604030504040204" pitchFamily="34" charset="0"/>
              <a:cs typeface="Bahnschrift Condensed"/>
              <a:sym typeface="Bahnschrift Condensed"/>
            </a:endParaRPr>
          </a:p>
          <a:p>
            <a:pPr algn="ctr" defTabSz="914050" eaLnBrk="1" fontAlgn="auto">
              <a:spcBef>
                <a:spcPts val="600"/>
              </a:spcBef>
              <a:spcAft>
                <a:spcPts val="0"/>
              </a:spcAft>
              <a:defRPr>
                <a:solidFill>
                  <a:srgbClr val="3B1F4E"/>
                </a:solidFill>
                <a:latin typeface="Bahnschrift Condensed"/>
                <a:ea typeface="Bahnschrift Condensed"/>
                <a:cs typeface="Bahnschrift Condensed"/>
                <a:sym typeface="Bahnschrift Condensed"/>
              </a:defRPr>
            </a:pPr>
            <a:r>
              <a:rPr lang="en-US" sz="4000" kern="0" dirty="0">
                <a:solidFill>
                  <a:schemeClr val="bg1"/>
                </a:solidFill>
                <a:latin typeface="Century" pitchFamily="18" charset="0"/>
                <a:ea typeface="Verdana" panose="020B0604030504040204" pitchFamily="34" charset="0"/>
                <a:sym typeface="Bahnschrift Condensed"/>
              </a:rPr>
              <a:t>Social Media fake Profile Detection system</a:t>
            </a:r>
          </a:p>
          <a:p>
            <a:pPr algn="ctr" defTabSz="914050" eaLnBrk="1" fontAlgn="auto">
              <a:spcBef>
                <a:spcPts val="600"/>
              </a:spcBef>
              <a:spcAft>
                <a:spcPts val="0"/>
              </a:spcAft>
              <a:defRPr>
                <a:solidFill>
                  <a:srgbClr val="3B1F4E"/>
                </a:solidFill>
                <a:latin typeface="Bahnschrift Condensed"/>
                <a:ea typeface="Bahnschrift Condensed"/>
                <a:cs typeface="Bahnschrift Condensed"/>
                <a:sym typeface="Bahnschrift Condensed"/>
              </a:defRPr>
            </a:pPr>
            <a:endParaRPr lang="en-US" sz="3000" b="1" dirty="0">
              <a:solidFill>
                <a:srgbClr val="1A237E"/>
              </a:solidFill>
              <a:latin typeface="PT Serif"/>
              <a:sym typeface="Bahnschrift Condensed"/>
            </a:endParaRPr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A0D4875A-36CA-4802-BC6E-C904C7F964F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82633" y="2538722"/>
            <a:ext cx="2226734" cy="86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Subtitle 2">
            <a:extLst>
              <a:ext uri="{FF2B5EF4-FFF2-40B4-BE49-F238E27FC236}">
                <a16:creationId xmlns:a16="http://schemas.microsoft.com/office/drawing/2014/main" id="{1DED7864-9893-495B-B1A9-E5BCE138B7CD}"/>
              </a:ext>
            </a:extLst>
          </p:cNvPr>
          <p:cNvSpPr txBox="1">
            <a:spLocks/>
          </p:cNvSpPr>
          <p:nvPr/>
        </p:nvSpPr>
        <p:spPr>
          <a:xfrm>
            <a:off x="537233" y="4856473"/>
            <a:ext cx="3345133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rgbClr val="002060"/>
                </a:solidFill>
                <a:latin typeface="PT Serif" panose="020A0603040505020204" pitchFamily="18" charset="0"/>
              </a:rPr>
              <a:t>Presented By,</a:t>
            </a:r>
          </a:p>
          <a:p>
            <a:r>
              <a:rPr lang="en-US" sz="2000" b="1" dirty="0">
                <a:solidFill>
                  <a:srgbClr val="002060"/>
                </a:solidFill>
                <a:latin typeface="PT Serif" panose="020A0603040505020204" pitchFamily="18" charset="0"/>
              </a:rPr>
              <a:t>Tanmay V. </a:t>
            </a:r>
            <a:r>
              <a:rPr lang="en-US" sz="2000" b="1" dirty="0" err="1">
                <a:solidFill>
                  <a:srgbClr val="002060"/>
                </a:solidFill>
                <a:latin typeface="PT Serif" panose="020A0603040505020204" pitchFamily="18" charset="0"/>
              </a:rPr>
              <a:t>Buranpuri</a:t>
            </a:r>
            <a:endParaRPr lang="en-US" sz="2000" b="1" dirty="0">
              <a:solidFill>
                <a:srgbClr val="002060"/>
              </a:solidFill>
              <a:latin typeface="PT Serif" panose="020A0603040505020204" pitchFamily="18" charset="0"/>
            </a:endParaRPr>
          </a:p>
          <a:p>
            <a:r>
              <a:rPr lang="en-US" sz="2000" b="1" dirty="0">
                <a:solidFill>
                  <a:srgbClr val="002060"/>
                </a:solidFill>
                <a:latin typeface="PT Serif" panose="020A0603040505020204" pitchFamily="18" charset="0"/>
              </a:rPr>
              <a:t>240103002038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A875145A-AB1B-4286-8F55-73E9306403A2}"/>
              </a:ext>
            </a:extLst>
          </p:cNvPr>
          <p:cNvSpPr txBox="1">
            <a:spLocks/>
          </p:cNvSpPr>
          <p:nvPr/>
        </p:nvSpPr>
        <p:spPr>
          <a:xfrm>
            <a:off x="8610600" y="4856473"/>
            <a:ext cx="3345133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rgbClr val="002060"/>
                </a:solidFill>
                <a:latin typeface="PT Serif" panose="020A0603040505020204" pitchFamily="18" charset="0"/>
              </a:rPr>
              <a:t>Supervised By,</a:t>
            </a:r>
          </a:p>
          <a:p>
            <a:r>
              <a:rPr lang="en-US" sz="1800" b="1" dirty="0">
                <a:solidFill>
                  <a:srgbClr val="002060"/>
                </a:solidFill>
                <a:latin typeface="PT Serif" panose="020A0603040505020204" pitchFamily="18" charset="0"/>
              </a:rPr>
              <a:t>Dr. Ashutosh Tripathi</a:t>
            </a:r>
          </a:p>
          <a:p>
            <a:r>
              <a:rPr lang="en-US" sz="1800" b="1" dirty="0">
                <a:solidFill>
                  <a:srgbClr val="002060"/>
                </a:solidFill>
                <a:latin typeface="PT Serif" panose="020A0603040505020204" pitchFamily="18" charset="0"/>
              </a:rPr>
              <a:t>Assistant Professor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B7C44EBD-3B2B-4ECB-A728-2383E6FE9837}"/>
              </a:ext>
            </a:extLst>
          </p:cNvPr>
          <p:cNvSpPr txBox="1">
            <a:spLocks/>
          </p:cNvSpPr>
          <p:nvPr/>
        </p:nvSpPr>
        <p:spPr>
          <a:xfrm>
            <a:off x="1805717" y="-23492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000" b="1" dirty="0">
              <a:solidFill>
                <a:srgbClr val="002060"/>
              </a:solidFill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367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>
            <a:spLocks noGrp="1"/>
          </p:cNvSpPr>
          <p:nvPr>
            <p:ph type="title"/>
          </p:nvPr>
        </p:nvSpPr>
        <p:spPr>
          <a:xfrm>
            <a:off x="2113936" y="160547"/>
            <a:ext cx="7964129" cy="80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IN" sz="2900" b="1" dirty="0">
                <a:solidFill>
                  <a:srgbClr val="1A237E"/>
                </a:solidFill>
                <a:latin typeface="PT Serif"/>
                <a:ea typeface="PT Serif"/>
                <a:cs typeface="PT Serif"/>
                <a:sym typeface="PT Serif"/>
              </a:rPr>
              <a:t>Outline</a:t>
            </a:r>
            <a:endParaRPr sz="2900" b="1" dirty="0">
              <a:solidFill>
                <a:srgbClr val="1A237E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206477" y="962617"/>
            <a:ext cx="11843462" cy="0"/>
          </a:xfrm>
          <a:prstGeom prst="straightConnector1">
            <a:avLst/>
          </a:prstGeom>
          <a:noFill/>
          <a:ln w="9525" cap="flat" cmpd="sng">
            <a:solidFill>
              <a:srgbClr val="1F386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D04906-AB86-44E9-886C-4A3BFAE50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33B24-7892-435B-A881-8170D2748863}" type="datetime1">
              <a:rPr lang="en-IN" smtClean="0"/>
              <a:t>28-04-2026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EAC3C9-7E62-4CCB-8659-6FC364712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[Project Title]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9DC6AA-048B-47CB-97DF-DD1FCD4ED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05EB9-5EDD-4E99-8557-C45C7E571854}" type="slidenum">
              <a:rPr lang="en-IN" smtClean="0"/>
              <a:t>2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130E4D6-88D0-4C27-963C-EF0C55B28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 </a:t>
            </a:r>
            <a:r>
              <a:rPr lang="en-US" sz="2400" dirty="0"/>
              <a:t>Introduction</a:t>
            </a:r>
          </a:p>
          <a:p>
            <a:r>
              <a:rPr lang="en-US" sz="2400" dirty="0"/>
              <a:t> Problem Definition &amp; Motivation</a:t>
            </a:r>
          </a:p>
          <a:p>
            <a:r>
              <a:rPr lang="en-US" sz="2400" dirty="0"/>
              <a:t> Aim &amp; Objectives</a:t>
            </a:r>
          </a:p>
          <a:p>
            <a:r>
              <a:rPr lang="en-US" sz="2400" dirty="0"/>
              <a:t> Literature Survey</a:t>
            </a:r>
          </a:p>
          <a:p>
            <a:r>
              <a:rPr lang="en-US" sz="2400" dirty="0"/>
              <a:t> Proposed System</a:t>
            </a:r>
          </a:p>
          <a:p>
            <a:r>
              <a:rPr lang="en-US" sz="2400" dirty="0"/>
              <a:t> Implementation Setup</a:t>
            </a:r>
          </a:p>
          <a:p>
            <a:r>
              <a:rPr lang="en-US" sz="2400" dirty="0"/>
              <a:t>Overall System </a:t>
            </a:r>
            <a:r>
              <a:rPr lang="en-US" sz="2400" dirty="0" err="1"/>
              <a:t>Archetecture</a:t>
            </a:r>
            <a:r>
              <a:rPr lang="en-US" sz="2400" dirty="0"/>
              <a:t> Diagram</a:t>
            </a:r>
          </a:p>
          <a:p>
            <a:r>
              <a:rPr lang="en-US" sz="2400" dirty="0"/>
              <a:t> System Working (Web </a:t>
            </a:r>
            <a:r>
              <a:rPr lang="en-US" sz="2400" dirty="0" err="1"/>
              <a:t>Dasboard</a:t>
            </a:r>
            <a:r>
              <a:rPr lang="en-US" sz="2400" dirty="0"/>
              <a:t>)</a:t>
            </a:r>
          </a:p>
          <a:p>
            <a:r>
              <a:rPr lang="en-US" sz="2400" dirty="0"/>
              <a:t> Results &amp; Analysis</a:t>
            </a:r>
          </a:p>
          <a:p>
            <a:r>
              <a:rPr lang="en-US" sz="2400" dirty="0"/>
              <a:t> Conclusion &amp; Future Work</a:t>
            </a:r>
          </a:p>
          <a:p>
            <a:r>
              <a:rPr lang="en-US" sz="2400" dirty="0"/>
              <a:t> References</a:t>
            </a:r>
            <a:endParaRPr lang="en-IN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>
            <a:spLocks noGrp="1"/>
          </p:cNvSpPr>
          <p:nvPr>
            <p:ph type="title"/>
          </p:nvPr>
        </p:nvSpPr>
        <p:spPr>
          <a:xfrm>
            <a:off x="2113936" y="160547"/>
            <a:ext cx="7964129" cy="80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IN" sz="2900" b="1" dirty="0">
                <a:solidFill>
                  <a:srgbClr val="1A237E"/>
                </a:solidFill>
                <a:latin typeface="PT Serif"/>
                <a:ea typeface="PT Serif"/>
                <a:cs typeface="PT Serif"/>
                <a:sym typeface="PT Serif"/>
              </a:rPr>
              <a:t>Introduction</a:t>
            </a:r>
            <a:endParaRPr sz="2900" b="1" dirty="0">
              <a:solidFill>
                <a:srgbClr val="1A237E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206477" y="962617"/>
            <a:ext cx="11843462" cy="0"/>
          </a:xfrm>
          <a:prstGeom prst="straightConnector1">
            <a:avLst/>
          </a:prstGeom>
          <a:noFill/>
          <a:ln w="9525" cap="flat" cmpd="sng">
            <a:solidFill>
              <a:srgbClr val="1F386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D04906-AB86-44E9-886C-4A3BFAE50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33B24-7892-435B-A881-8170D2748863}" type="datetime1">
              <a:rPr lang="en-IN" smtClean="0"/>
              <a:t>28-04-2026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EAC3C9-7E62-4CCB-8659-6FC364712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[Project Title]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9DC6AA-048B-47CB-97DF-DD1FCD4ED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05EB9-5EDD-4E99-8557-C45C7E571854}" type="slidenum">
              <a:rPr lang="en-IN" smtClean="0"/>
              <a:t>3</a:t>
            </a:fld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3B6B00-1D4A-503A-B08B-1FA5AB1F449F}"/>
              </a:ext>
            </a:extLst>
          </p:cNvPr>
          <p:cNvSpPr txBox="1"/>
          <p:nvPr/>
        </p:nvSpPr>
        <p:spPr>
          <a:xfrm>
            <a:off x="467983" y="962618"/>
            <a:ext cx="796412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system uses artificial intelligence to identify fake accounts which impersonate users on social media platforms.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system mainly operates through automatic data gathering to inspect Instagram user profiles.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system identifies suspicious accounts through matching their profiles with their online behavior and through examining their profile pictures.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system operates through a complete design which includes a React web dashboard and a Flask backend API.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system executes scans as background tasks which provide users with a scan ID to monitor their scan status.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system maintains a record of all scanning activities together with their outcomes which it stores in MongoDB to enable future examination.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system produces two outputs which consist of a direct risk assessment and an explanation of why the account generated suspicions.</a:t>
            </a:r>
          </a:p>
        </p:txBody>
      </p:sp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1F9918A2-2518-4CF5-1C7C-1EBC97ED3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5897" y="1284473"/>
            <a:ext cx="3287527" cy="3287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591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010" y="73446"/>
            <a:ext cx="10972800" cy="1143000"/>
          </a:xfrm>
        </p:spPr>
        <p:txBody>
          <a:bodyPr>
            <a:normAutofit/>
          </a:bodyPr>
          <a:lstStyle/>
          <a:p>
            <a:pPr algn="l"/>
            <a:r>
              <a:rPr lang="en-IN" sz="2900" b="1" dirty="0">
                <a:solidFill>
                  <a:srgbClr val="1A237E"/>
                </a:solidFill>
                <a:latin typeface="PT Serif"/>
              </a:rPr>
              <a:t>Problem Definition &amp; Motivation </a:t>
            </a:r>
            <a:endParaRPr lang="en-US" sz="2900" b="1" dirty="0">
              <a:solidFill>
                <a:srgbClr val="1A237E"/>
              </a:solidFill>
              <a:latin typeface="PT Serif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>
                <a:solidFill>
                  <a:schemeClr val="accent1">
                    <a:lumMod val="50000"/>
                  </a:schemeClr>
                </a:solidFill>
              </a:rPr>
              <a:t>4</a:t>
            </a:fld>
            <a:endParaRPr lang="en-US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7" name="Google Shape;103;p14">
            <a:extLst>
              <a:ext uri="{FF2B5EF4-FFF2-40B4-BE49-F238E27FC236}">
                <a16:creationId xmlns:a16="http://schemas.microsoft.com/office/drawing/2014/main" id="{F9C5E70E-F1B3-4827-B1EB-012D84888A2F}"/>
              </a:ext>
            </a:extLst>
          </p:cNvPr>
          <p:cNvCxnSpPr/>
          <p:nvPr/>
        </p:nvCxnSpPr>
        <p:spPr>
          <a:xfrm>
            <a:off x="198010" y="928740"/>
            <a:ext cx="11843462" cy="0"/>
          </a:xfrm>
          <a:prstGeom prst="straightConnector1">
            <a:avLst/>
          </a:prstGeom>
          <a:noFill/>
          <a:ln w="9525" cap="flat" cmpd="sng">
            <a:solidFill>
              <a:srgbClr val="1F386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A48A6E0-BA0F-438C-B0B4-F63F28784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9C296-EF28-4DA3-AF21-A26E41DF7169}" type="datetime1">
              <a:rPr lang="en-IN" smtClean="0"/>
              <a:t>28-04-2026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5604BED-DB69-4DD5-BF4A-EDA696E1E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[Project Title]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D9C335-7DBF-44F0-C7A4-BBB41AD75DBD}"/>
              </a:ext>
            </a:extLst>
          </p:cNvPr>
          <p:cNvSpPr txBox="1"/>
          <p:nvPr/>
        </p:nvSpPr>
        <p:spPr>
          <a:xfrm>
            <a:off x="217417" y="1077674"/>
            <a:ext cx="11298847" cy="5450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Social media impersonation is a growing problem where attackers create fake profiles that closely resemble real users. These fake accounts are often used for scams, spreading misinformation, phishing, or damaging reputations.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Detecting such accounts manually is difficult because fake profiles often copy: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Username patterns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Profile pictures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Bio descriptions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Display names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There is a need for an automated system that can scan social platforms, compare profile attributes intelligently, and detect impersonation attempts quickly and reliably. </a:t>
            </a:r>
            <a:r>
              <a:rPr lang="en-US" dirty="0" err="1"/>
              <a:t>FakeShield</a:t>
            </a:r>
            <a:r>
              <a:rPr lang="en-US" dirty="0"/>
              <a:t> is motivated by this need to provide an automated impersonation detection solution.</a:t>
            </a:r>
          </a:p>
        </p:txBody>
      </p:sp>
    </p:spTree>
    <p:extLst>
      <p:ext uri="{BB962C8B-B14F-4D97-AF65-F5344CB8AC3E}">
        <p14:creationId xmlns:p14="http://schemas.microsoft.com/office/powerpoint/2010/main" val="3337490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010" y="73446"/>
            <a:ext cx="10972800" cy="1143000"/>
          </a:xfrm>
        </p:spPr>
        <p:txBody>
          <a:bodyPr>
            <a:normAutofit/>
          </a:bodyPr>
          <a:lstStyle/>
          <a:p>
            <a:pPr algn="l"/>
            <a:r>
              <a:rPr lang="en-IN" sz="2900" b="1" dirty="0">
                <a:solidFill>
                  <a:srgbClr val="1A237E"/>
                </a:solidFill>
                <a:latin typeface="PT Serif"/>
              </a:rPr>
              <a:t>Problem Definition &amp; Motivation </a:t>
            </a:r>
            <a:endParaRPr lang="en-US" sz="2900" b="1" dirty="0">
              <a:solidFill>
                <a:srgbClr val="1A237E"/>
              </a:solidFill>
              <a:latin typeface="PT Serif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>
                <a:solidFill>
                  <a:schemeClr val="accent1">
                    <a:lumMod val="50000"/>
                  </a:schemeClr>
                </a:solidFill>
              </a:rPr>
              <a:t>5</a:t>
            </a:fld>
            <a:endParaRPr lang="en-US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7" name="Google Shape;103;p14">
            <a:extLst>
              <a:ext uri="{FF2B5EF4-FFF2-40B4-BE49-F238E27FC236}">
                <a16:creationId xmlns:a16="http://schemas.microsoft.com/office/drawing/2014/main" id="{F9C5E70E-F1B3-4827-B1EB-012D84888A2F}"/>
              </a:ext>
            </a:extLst>
          </p:cNvPr>
          <p:cNvCxnSpPr/>
          <p:nvPr/>
        </p:nvCxnSpPr>
        <p:spPr>
          <a:xfrm>
            <a:off x="198010" y="928740"/>
            <a:ext cx="11843462" cy="0"/>
          </a:xfrm>
          <a:prstGeom prst="straightConnector1">
            <a:avLst/>
          </a:prstGeom>
          <a:noFill/>
          <a:ln w="9525" cap="flat" cmpd="sng">
            <a:solidFill>
              <a:srgbClr val="1F386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A48A6E0-BA0F-438C-B0B4-F63F28784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9C296-EF28-4DA3-AF21-A26E41DF7169}" type="datetime1">
              <a:rPr lang="en-IN" smtClean="0"/>
              <a:t>28-04-2026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5604BED-DB69-4DD5-BF4A-EDA696E1E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[Project Title]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D94A88-C960-EB31-F304-695C310F135A}"/>
              </a:ext>
            </a:extLst>
          </p:cNvPr>
          <p:cNvSpPr txBox="1"/>
          <p:nvPr/>
        </p:nvSpPr>
        <p:spPr>
          <a:xfrm>
            <a:off x="198010" y="1138215"/>
            <a:ext cx="60945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dirty="0">
                <a:solidFill>
                  <a:srgbClr val="1F2328"/>
                </a:solidFill>
                <a:effectLst/>
                <a:latin typeface="Mona Sans VF"/>
              </a:rPr>
              <a:t>Goal of </a:t>
            </a:r>
            <a:r>
              <a:rPr lang="en-US" sz="2000" b="1" i="0" dirty="0" err="1">
                <a:solidFill>
                  <a:srgbClr val="1F2328"/>
                </a:solidFill>
                <a:effectLst/>
                <a:latin typeface="Mona Sans VF"/>
              </a:rPr>
              <a:t>FakeShield</a:t>
            </a:r>
            <a:r>
              <a:rPr lang="en-US" sz="2000" b="1" i="0" dirty="0">
                <a:solidFill>
                  <a:srgbClr val="1F2328"/>
                </a:solidFill>
                <a:effectLst/>
                <a:latin typeface="Mona Sans VF"/>
              </a:rPr>
              <a:t>:</a:t>
            </a:r>
          </a:p>
          <a:p>
            <a:endParaRPr lang="en-US" sz="20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C04835-ECB1-BDBF-D5C7-CAFD8DE1FFB3}"/>
              </a:ext>
            </a:extLst>
          </p:cNvPr>
          <p:cNvSpPr txBox="1"/>
          <p:nvPr/>
        </p:nvSpPr>
        <p:spPr>
          <a:xfrm>
            <a:off x="198010" y="1682710"/>
            <a:ext cx="950670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latin typeface="Mona Sans VF"/>
              </a:rPr>
              <a:t>To build an AI-assisted system that detects potential impersonation accounts on social media (focused on Instagram)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1F2328"/>
              </a:solidFill>
              <a:effectLst/>
              <a:latin typeface="Mona Sans VF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latin typeface="Mona Sans VF"/>
              </a:rPr>
              <a:t>To compare a target (original) profile with scraped candidate profiles to identify suspicious similarity patterns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1F2328"/>
              </a:solidFill>
              <a:effectLst/>
              <a:latin typeface="Mona Sans VF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latin typeface="Mona Sans VF"/>
              </a:rPr>
              <a:t>To combine multiple signals—username, bio, display name, behavior, and profile photo—into one risk decision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1F2328"/>
              </a:solidFill>
              <a:effectLst/>
              <a:latin typeface="Mona Sans VF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latin typeface="Mona Sans VF"/>
              </a:rPr>
              <a:t>To generate a clear risk score and confidence level that a normal user can understand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1F2328"/>
              </a:solidFill>
              <a:effectLst/>
              <a:latin typeface="Mona Sans VF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latin typeface="Mona Sans VF"/>
              </a:rPr>
              <a:t>To provide a full-stack workflow: start scan → track progress → view results → store history for </a:t>
            </a:r>
            <a:r>
              <a:rPr lang="en-US" dirty="0">
                <a:solidFill>
                  <a:srgbClr val="1F2328"/>
                </a:solidFill>
                <a:latin typeface="Mona Sans VF"/>
              </a:rPr>
              <a:t>    </a:t>
            </a:r>
            <a:r>
              <a:rPr lang="en-US" b="0" i="0" dirty="0">
                <a:solidFill>
                  <a:srgbClr val="1F2328"/>
                </a:solidFill>
                <a:effectLst/>
                <a:latin typeface="Mona Sans VF"/>
              </a:rPr>
              <a:t>later review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1F2328"/>
              </a:solidFill>
              <a:effectLst/>
              <a:latin typeface="Mona Sans VF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latin typeface="Mona Sans VF"/>
              </a:rPr>
              <a:t>To support asynchronous scanning so the user does not have to wait while scraping and analysis run in the background</a:t>
            </a:r>
          </a:p>
        </p:txBody>
      </p:sp>
    </p:spTree>
    <p:extLst>
      <p:ext uri="{BB962C8B-B14F-4D97-AF65-F5344CB8AC3E}">
        <p14:creationId xmlns:p14="http://schemas.microsoft.com/office/powerpoint/2010/main" val="2959314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010" y="73446"/>
            <a:ext cx="10972800" cy="1143000"/>
          </a:xfrm>
        </p:spPr>
        <p:txBody>
          <a:bodyPr>
            <a:normAutofit/>
          </a:bodyPr>
          <a:lstStyle/>
          <a:p>
            <a:pPr algn="l"/>
            <a:r>
              <a:rPr lang="en-IN" sz="2900" b="1" dirty="0">
                <a:solidFill>
                  <a:srgbClr val="1A237E"/>
                </a:solidFill>
                <a:latin typeface="PT Serif"/>
              </a:rPr>
              <a:t>Problem Definition &amp; Motivation </a:t>
            </a:r>
            <a:endParaRPr lang="en-US" sz="2900" b="1" dirty="0">
              <a:solidFill>
                <a:srgbClr val="1A237E"/>
              </a:solidFill>
              <a:latin typeface="PT Serif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>
                <a:solidFill>
                  <a:schemeClr val="accent1">
                    <a:lumMod val="50000"/>
                  </a:schemeClr>
                </a:solidFill>
              </a:rPr>
              <a:t>6</a:t>
            </a:fld>
            <a:endParaRPr lang="en-US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7" name="Google Shape;103;p14">
            <a:extLst>
              <a:ext uri="{FF2B5EF4-FFF2-40B4-BE49-F238E27FC236}">
                <a16:creationId xmlns:a16="http://schemas.microsoft.com/office/drawing/2014/main" id="{F9C5E70E-F1B3-4827-B1EB-012D84888A2F}"/>
              </a:ext>
            </a:extLst>
          </p:cNvPr>
          <p:cNvCxnSpPr/>
          <p:nvPr/>
        </p:nvCxnSpPr>
        <p:spPr>
          <a:xfrm>
            <a:off x="198010" y="928740"/>
            <a:ext cx="11843462" cy="0"/>
          </a:xfrm>
          <a:prstGeom prst="straightConnector1">
            <a:avLst/>
          </a:prstGeom>
          <a:noFill/>
          <a:ln w="9525" cap="flat" cmpd="sng">
            <a:solidFill>
              <a:srgbClr val="1F386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A48A6E0-BA0F-438C-B0B4-F63F28784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9C296-EF28-4DA3-AF21-A26E41DF7169}" type="datetime1">
              <a:rPr lang="en-IN" smtClean="0"/>
              <a:t>28-04-2026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5604BED-DB69-4DD5-BF4A-EDA696E1E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[Project Title]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3C891D-749A-391C-5C7A-1667D34DE5AD}"/>
              </a:ext>
            </a:extLst>
          </p:cNvPr>
          <p:cNvSpPr txBox="1"/>
          <p:nvPr/>
        </p:nvSpPr>
        <p:spPr>
          <a:xfrm>
            <a:off x="534118" y="1216447"/>
            <a:ext cx="8808290" cy="461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Example:</a:t>
            </a:r>
          </a:p>
          <a:p>
            <a:pPr>
              <a:lnSpc>
                <a:spcPct val="150000"/>
              </a:lnSpc>
            </a:pPr>
            <a:r>
              <a:rPr lang="en-US" dirty="0"/>
              <a:t>A small business brand has an official Instagram page to promote products. A fake account is created using a similar name and logo to sell duplicate or fraudulent products.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How Fake Shield Help: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FakeShield</a:t>
            </a:r>
            <a:r>
              <a:rPr lang="en-US" dirty="0"/>
              <a:t> can scan the official account and detect fake profiles by: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Comparing brand name similarity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Matching logo/profile image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Checking copied bio/description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Identifying abnormal behavior patterns </a:t>
            </a:r>
          </a:p>
          <a:p>
            <a:pPr>
              <a:lnSpc>
                <a:spcPct val="150000"/>
              </a:lnSpc>
            </a:pPr>
            <a:r>
              <a:rPr lang="en-US" dirty="0"/>
              <a:t>This helps the business quickly identify and report impersonators.</a:t>
            </a:r>
          </a:p>
        </p:txBody>
      </p:sp>
    </p:spTree>
    <p:extLst>
      <p:ext uri="{BB962C8B-B14F-4D97-AF65-F5344CB8AC3E}">
        <p14:creationId xmlns:p14="http://schemas.microsoft.com/office/powerpoint/2010/main" val="1010859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010" y="107951"/>
            <a:ext cx="10972800" cy="1143000"/>
          </a:xfrm>
        </p:spPr>
        <p:txBody>
          <a:bodyPr>
            <a:normAutofit/>
          </a:bodyPr>
          <a:lstStyle/>
          <a:p>
            <a:pPr algn="l"/>
            <a:r>
              <a:rPr lang="en-IN" sz="2900" b="1" dirty="0">
                <a:solidFill>
                  <a:srgbClr val="1A237E"/>
                </a:solidFill>
                <a:latin typeface="PT Serif"/>
              </a:rPr>
              <a:t>Aim &amp; Objective</a:t>
            </a:r>
            <a:endParaRPr lang="en-US" sz="2900" b="1" dirty="0">
              <a:solidFill>
                <a:srgbClr val="1A237E"/>
              </a:solidFill>
              <a:latin typeface="PT Serif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>
                <a:solidFill>
                  <a:schemeClr val="accent1">
                    <a:lumMod val="50000"/>
                  </a:schemeClr>
                </a:solidFill>
              </a:rPr>
              <a:t>7</a:t>
            </a:fld>
            <a:endParaRPr lang="en-US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7" name="Google Shape;103;p14">
            <a:extLst>
              <a:ext uri="{FF2B5EF4-FFF2-40B4-BE49-F238E27FC236}">
                <a16:creationId xmlns:a16="http://schemas.microsoft.com/office/drawing/2014/main" id="{F9C5E70E-F1B3-4827-B1EB-012D84888A2F}"/>
              </a:ext>
            </a:extLst>
          </p:cNvPr>
          <p:cNvCxnSpPr/>
          <p:nvPr/>
        </p:nvCxnSpPr>
        <p:spPr>
          <a:xfrm>
            <a:off x="198010" y="928740"/>
            <a:ext cx="11843462" cy="0"/>
          </a:xfrm>
          <a:prstGeom prst="straightConnector1">
            <a:avLst/>
          </a:prstGeom>
          <a:noFill/>
          <a:ln w="9525" cap="flat" cmpd="sng">
            <a:solidFill>
              <a:srgbClr val="1F386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A48A6E0-BA0F-438C-B0B4-F63F28784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28-4-2026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5604BED-DB69-4DD5-BF4A-EDA696E1E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Social media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B50349-22F8-D773-92FC-7DA6C59B1456}"/>
              </a:ext>
            </a:extLst>
          </p:cNvPr>
          <p:cNvSpPr txBox="1"/>
          <p:nvPr/>
        </p:nvSpPr>
        <p:spPr>
          <a:xfrm>
            <a:off x="198010" y="1069048"/>
            <a:ext cx="982588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Aim:</a:t>
            </a:r>
            <a:br>
              <a:rPr lang="en-US" dirty="0"/>
            </a:br>
            <a:r>
              <a:rPr lang="en-US" dirty="0"/>
              <a:t>To design and develop a web-based system that automatically detects suspicious and impersonating social media accounts using similarity analysis and behavioral signals.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Objectives:</a:t>
            </a:r>
            <a:endParaRPr lang="en-US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To collect candidate profile data using automated scraping.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To compare usernames, bios, display names, and profile photos.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To analyze behavioral indicators such as follower-to-following ratio and account age.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To generate a risk score, confidence level, and readable reasons for detection.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To provide a web dashboard where users can start scans and view results.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To maintain scan history for future reference.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7436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010" y="107951"/>
            <a:ext cx="10972800" cy="1143000"/>
          </a:xfrm>
        </p:spPr>
        <p:txBody>
          <a:bodyPr>
            <a:normAutofit/>
          </a:bodyPr>
          <a:lstStyle/>
          <a:p>
            <a:pPr algn="l"/>
            <a:r>
              <a:rPr lang="en-IN" sz="2900" b="1" dirty="0">
                <a:solidFill>
                  <a:srgbClr val="1A237E"/>
                </a:solidFill>
                <a:latin typeface="PT Serif"/>
              </a:rPr>
              <a:t>Literature Survey </a:t>
            </a:r>
            <a:endParaRPr lang="en-US" sz="2900" b="1" dirty="0">
              <a:solidFill>
                <a:srgbClr val="1A237E"/>
              </a:solidFill>
              <a:latin typeface="PT Serif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>
                <a:solidFill>
                  <a:schemeClr val="accent1">
                    <a:lumMod val="50000"/>
                  </a:schemeClr>
                </a:solidFill>
              </a:rPr>
              <a:t>8</a:t>
            </a:fld>
            <a:endParaRPr lang="en-US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7" name="Google Shape;103;p14">
            <a:extLst>
              <a:ext uri="{FF2B5EF4-FFF2-40B4-BE49-F238E27FC236}">
                <a16:creationId xmlns:a16="http://schemas.microsoft.com/office/drawing/2014/main" id="{F9C5E70E-F1B3-4827-B1EB-012D84888A2F}"/>
              </a:ext>
            </a:extLst>
          </p:cNvPr>
          <p:cNvCxnSpPr/>
          <p:nvPr/>
        </p:nvCxnSpPr>
        <p:spPr>
          <a:xfrm>
            <a:off x="198010" y="928740"/>
            <a:ext cx="11843462" cy="0"/>
          </a:xfrm>
          <a:prstGeom prst="straightConnector1">
            <a:avLst/>
          </a:prstGeom>
          <a:noFill/>
          <a:ln w="9525" cap="flat" cmpd="sng">
            <a:solidFill>
              <a:srgbClr val="1F386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A48A6E0-BA0F-438C-B0B4-F63F28784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3AA14-D6A0-4876-A3B8-DBA64D7F77A8}" type="datetime1">
              <a:rPr lang="en-IN" smtClean="0"/>
              <a:t>28-04-2026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5604BED-DB69-4DD5-BF4A-EDA696E1E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[Project Title]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D133997-40CE-ECDE-649F-8CEB897857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6399043"/>
              </p:ext>
            </p:extLst>
          </p:nvPr>
        </p:nvGraphicFramePr>
        <p:xfrm>
          <a:off x="900420" y="1090078"/>
          <a:ext cx="9787710" cy="5568316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957542">
                  <a:extLst>
                    <a:ext uri="{9D8B030D-6E8A-4147-A177-3AD203B41FA5}">
                      <a16:colId xmlns:a16="http://schemas.microsoft.com/office/drawing/2014/main" val="667431593"/>
                    </a:ext>
                  </a:extLst>
                </a:gridCol>
                <a:gridCol w="1957542">
                  <a:extLst>
                    <a:ext uri="{9D8B030D-6E8A-4147-A177-3AD203B41FA5}">
                      <a16:colId xmlns:a16="http://schemas.microsoft.com/office/drawing/2014/main" val="388217095"/>
                    </a:ext>
                  </a:extLst>
                </a:gridCol>
                <a:gridCol w="1957542">
                  <a:extLst>
                    <a:ext uri="{9D8B030D-6E8A-4147-A177-3AD203B41FA5}">
                      <a16:colId xmlns:a16="http://schemas.microsoft.com/office/drawing/2014/main" val="1730561565"/>
                    </a:ext>
                  </a:extLst>
                </a:gridCol>
                <a:gridCol w="1957542">
                  <a:extLst>
                    <a:ext uri="{9D8B030D-6E8A-4147-A177-3AD203B41FA5}">
                      <a16:colId xmlns:a16="http://schemas.microsoft.com/office/drawing/2014/main" val="2153916453"/>
                    </a:ext>
                  </a:extLst>
                </a:gridCol>
                <a:gridCol w="1957542">
                  <a:extLst>
                    <a:ext uri="{9D8B030D-6E8A-4147-A177-3AD203B41FA5}">
                      <a16:colId xmlns:a16="http://schemas.microsoft.com/office/drawing/2014/main" val="2428030384"/>
                    </a:ext>
                  </a:extLst>
                </a:gridCol>
              </a:tblGrid>
              <a:tr h="24585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Paper Citation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Method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Technique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Limitations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Results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4272490755"/>
                  </a:ext>
                </a:extLst>
              </a:tr>
              <a:tr h="150106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400" dirty="0"/>
                        <a:t>[1] Fake profile detection on </a:t>
                      </a:r>
                      <a:r>
                        <a:rPr lang="en-US" sz="1400" b="1" dirty="0"/>
                        <a:t>Facebook</a:t>
                      </a:r>
                      <a:r>
                        <a:rPr lang="en-US" sz="1400" dirty="0"/>
                        <a:t> using supervised &amp; unsupervised learning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400" dirty="0"/>
                        <a:t>Detecting fake accounts by analyzing profile attributes and activity patterns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400" dirty="0"/>
                        <a:t>Combination of supervised classifiers and unsupervised clustering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400" dirty="0"/>
                        <a:t>Feature selection and attribute grouping were not highly effective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400"/>
                        <a:t>Supervised models showed better accuracy than unsupervised approaches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152287886"/>
                  </a:ext>
                </a:extLst>
              </a:tr>
              <a:tr h="1204327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400" dirty="0"/>
                        <a:t>[2] Detection of fake </a:t>
                      </a:r>
                      <a:r>
                        <a:rPr lang="en-US" sz="1400" b="1" dirty="0"/>
                        <a:t>Instagram</a:t>
                      </a:r>
                      <a:r>
                        <a:rPr lang="en-US" sz="1400" dirty="0"/>
                        <a:t> accounts using dataset comparison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400" dirty="0"/>
                        <a:t>Comparing real and fake accounts using classification models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400" dirty="0"/>
                        <a:t>Bagging-based decision tree, SVM, and Naive Bayes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400" dirty="0"/>
                        <a:t>Accuracy decreases when dataset size increases without proper feature tuning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400" dirty="0"/>
                        <a:t>Bagged decision tree produced more accurate results than other algorithms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3865059815"/>
                  </a:ext>
                </a:extLst>
              </a:tr>
              <a:tr h="1204327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400"/>
                        <a:t>[3] Username similarity detection in social networks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400" dirty="0"/>
                        <a:t>Identifying impersonation through name pattern matching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400" dirty="0"/>
                        <a:t>Fuzzy string matching and cosine similarity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400" dirty="0"/>
                        <a:t>Only text-based analysis; ignores behavior and images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400" dirty="0"/>
                        <a:t>Effective for detecting username copying but limited overall detection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4212652463"/>
                  </a:ext>
                </a:extLst>
              </a:tr>
              <a:tr h="1204327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400"/>
                        <a:t>[4] Behavioral analysis for detecting fake accounts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400" dirty="0"/>
                        <a:t>Identifying abnormal user behavior patterns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400" dirty="0"/>
                        <a:t>Follower/following ratio, account age, activity frequency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400" dirty="0"/>
                        <a:t>Cannot detect impersonation when behavior looks normal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400" dirty="0"/>
                        <a:t>Behavioral signals improve detection when combined with profile analysis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2377115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3831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010" y="107951"/>
            <a:ext cx="10972800" cy="1143000"/>
          </a:xfrm>
        </p:spPr>
        <p:txBody>
          <a:bodyPr>
            <a:normAutofit/>
          </a:bodyPr>
          <a:lstStyle/>
          <a:p>
            <a:pPr algn="l"/>
            <a:r>
              <a:rPr lang="en-IN" sz="2900" b="1" dirty="0">
                <a:solidFill>
                  <a:srgbClr val="1A237E"/>
                </a:solidFill>
                <a:latin typeface="PT Serif"/>
              </a:rPr>
              <a:t>Proposed System</a:t>
            </a:r>
            <a:endParaRPr lang="en-US" sz="2900" b="1" dirty="0">
              <a:solidFill>
                <a:srgbClr val="1A237E"/>
              </a:solidFill>
              <a:latin typeface="PT Serif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>
                <a:solidFill>
                  <a:schemeClr val="accent1">
                    <a:lumMod val="50000"/>
                  </a:schemeClr>
                </a:solidFill>
              </a:rPr>
              <a:t>9</a:t>
            </a:fld>
            <a:endParaRPr lang="en-US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7" name="Google Shape;103;p14">
            <a:extLst>
              <a:ext uri="{FF2B5EF4-FFF2-40B4-BE49-F238E27FC236}">
                <a16:creationId xmlns:a16="http://schemas.microsoft.com/office/drawing/2014/main" id="{F9C5E70E-F1B3-4827-B1EB-012D84888A2F}"/>
              </a:ext>
            </a:extLst>
          </p:cNvPr>
          <p:cNvCxnSpPr/>
          <p:nvPr/>
        </p:nvCxnSpPr>
        <p:spPr>
          <a:xfrm>
            <a:off x="198010" y="928740"/>
            <a:ext cx="11843462" cy="0"/>
          </a:xfrm>
          <a:prstGeom prst="straightConnector1">
            <a:avLst/>
          </a:prstGeom>
          <a:noFill/>
          <a:ln w="9525" cap="flat" cmpd="sng">
            <a:solidFill>
              <a:srgbClr val="1F386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A48A6E0-BA0F-438C-B0B4-F63F28784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1BE00-DE53-4688-BFD1-4BBF077BC6CC}" type="datetime1">
              <a:rPr lang="en-IN" smtClean="0"/>
              <a:t>28-04-2026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5604BED-DB69-4DD5-BF4A-EDA696E1E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Social Media Impersonation Detection system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FEA8FB-7C25-C0B7-43E1-26A5EDFB252C}"/>
              </a:ext>
            </a:extLst>
          </p:cNvPr>
          <p:cNvSpPr txBox="1"/>
          <p:nvPr/>
        </p:nvSpPr>
        <p:spPr>
          <a:xfrm>
            <a:off x="332078" y="1088061"/>
            <a:ext cx="10704664" cy="5450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The proposed system follows an automated scan pipeline: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User enters a username or profile URL in the </a:t>
            </a:r>
            <a:r>
              <a:rPr lang="en-US" dirty="0" err="1"/>
              <a:t>dashboard.Frontend</a:t>
            </a:r>
            <a:r>
              <a:rPr lang="en-US" dirty="0"/>
              <a:t> sends a request to the backend API to start the scan.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Backend creates a scan record and starts an asynchronous background job.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Apify</a:t>
            </a:r>
            <a:r>
              <a:rPr lang="en-US" dirty="0"/>
              <a:t> is used to scrape candidate Instagram </a:t>
            </a:r>
            <a:r>
              <a:rPr lang="en-US" dirty="0" err="1"/>
              <a:t>profiles.Detection</a:t>
            </a:r>
            <a:r>
              <a:rPr lang="en-US" dirty="0"/>
              <a:t> modules analyze similarities in: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Username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Bio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Display name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Behavior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Profile photo</a:t>
            </a:r>
          </a:p>
          <a:p>
            <a:pPr>
              <a:lnSpc>
                <a:spcPct val="150000"/>
              </a:lnSpc>
            </a:pPr>
            <a:r>
              <a:rPr lang="en-US" dirty="0"/>
              <a:t>A final risk score and result are generated and </a:t>
            </a:r>
            <a:r>
              <a:rPr lang="en-US" dirty="0" err="1"/>
              <a:t>stored.The</a:t>
            </a:r>
            <a:r>
              <a:rPr lang="en-US" dirty="0"/>
              <a:t> frontend polls the backend and displays the results when ready.</a:t>
            </a:r>
          </a:p>
        </p:txBody>
      </p:sp>
    </p:spTree>
    <p:extLst>
      <p:ext uri="{BB962C8B-B14F-4D97-AF65-F5344CB8AC3E}">
        <p14:creationId xmlns:p14="http://schemas.microsoft.com/office/powerpoint/2010/main" val="1258100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010" y="107951"/>
            <a:ext cx="10972800" cy="1143000"/>
          </a:xfrm>
        </p:spPr>
        <p:txBody>
          <a:bodyPr>
            <a:normAutofit/>
          </a:bodyPr>
          <a:lstStyle/>
          <a:p>
            <a:pPr algn="l"/>
            <a:r>
              <a:rPr lang="en-IN" sz="2900" b="1" dirty="0">
                <a:solidFill>
                  <a:srgbClr val="1A237E"/>
                </a:solidFill>
                <a:latin typeface="PT Serif"/>
              </a:rPr>
              <a:t> Implementation setup </a:t>
            </a:r>
            <a:endParaRPr lang="en-US" sz="2900" b="1" dirty="0">
              <a:solidFill>
                <a:srgbClr val="1A237E"/>
              </a:solidFill>
              <a:latin typeface="PT Serif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>
                <a:solidFill>
                  <a:schemeClr val="accent1">
                    <a:lumMod val="50000"/>
                  </a:schemeClr>
                </a:solidFill>
              </a:rPr>
              <a:t>10</a:t>
            </a:fld>
            <a:endParaRPr lang="en-US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7" name="Google Shape;103;p14">
            <a:extLst>
              <a:ext uri="{FF2B5EF4-FFF2-40B4-BE49-F238E27FC236}">
                <a16:creationId xmlns:a16="http://schemas.microsoft.com/office/drawing/2014/main" id="{F9C5E70E-F1B3-4827-B1EB-012D84888A2F}"/>
              </a:ext>
            </a:extLst>
          </p:cNvPr>
          <p:cNvCxnSpPr/>
          <p:nvPr/>
        </p:nvCxnSpPr>
        <p:spPr>
          <a:xfrm>
            <a:off x="198010" y="928740"/>
            <a:ext cx="11843462" cy="0"/>
          </a:xfrm>
          <a:prstGeom prst="straightConnector1">
            <a:avLst/>
          </a:prstGeom>
          <a:noFill/>
          <a:ln w="9525" cap="flat" cmpd="sng">
            <a:solidFill>
              <a:srgbClr val="1F386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A48A6E0-BA0F-438C-B0B4-F63F28784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7D1BF-ADD1-4F05-A7F9-6D218852290B}" type="datetime1">
              <a:rPr lang="en-IN" smtClean="0"/>
              <a:t>28-04-2026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5604BED-DB69-4DD5-BF4A-EDA696E1E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[Project Title]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D6A9ED-CE82-3C82-4924-8A8C607D2026}"/>
              </a:ext>
            </a:extLst>
          </p:cNvPr>
          <p:cNvSpPr txBox="1"/>
          <p:nvPr/>
        </p:nvSpPr>
        <p:spPr>
          <a:xfrm>
            <a:off x="534119" y="3663410"/>
            <a:ext cx="881404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Backend Technologies: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Flask</a:t>
            </a:r>
            <a:r>
              <a:rPr lang="en-US" dirty="0"/>
              <a:t> for creating REST API endpoints and managing scan workflows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Python for implementing detection logic and background processing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CORS and environment configuration for API communication</a:t>
            </a:r>
          </a:p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F29E1E-49CC-B51C-0693-DED41190E4A6}"/>
              </a:ext>
            </a:extLst>
          </p:cNvPr>
          <p:cNvSpPr txBox="1"/>
          <p:nvPr/>
        </p:nvSpPr>
        <p:spPr>
          <a:xfrm>
            <a:off x="473734" y="1163265"/>
            <a:ext cx="8814040" cy="1572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Frontend Technologies: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React</a:t>
            </a:r>
            <a:r>
              <a:rPr lang="en-US" dirty="0"/>
              <a:t> for building the interactive web dashboard (Home, Scan, Results, History pages)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/>
              <a:t>Axios</a:t>
            </a:r>
            <a:r>
              <a:rPr lang="en-US" b="1" dirty="0"/>
              <a:t> </a:t>
            </a:r>
            <a:r>
              <a:rPr lang="en-US" dirty="0"/>
              <a:t>for sending API requests and polling scan status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HTML, CSS, and JavaScript for user interface design</a:t>
            </a:r>
          </a:p>
        </p:txBody>
      </p:sp>
    </p:spTree>
    <p:extLst>
      <p:ext uri="{BB962C8B-B14F-4D97-AF65-F5344CB8AC3E}">
        <p14:creationId xmlns:p14="http://schemas.microsoft.com/office/powerpoint/2010/main" val="2762531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010" y="107951"/>
            <a:ext cx="10972800" cy="1143000"/>
          </a:xfrm>
        </p:spPr>
        <p:txBody>
          <a:bodyPr>
            <a:normAutofit/>
          </a:bodyPr>
          <a:lstStyle/>
          <a:p>
            <a:pPr algn="l"/>
            <a:r>
              <a:rPr lang="en-IN" sz="2900" b="1" dirty="0">
                <a:solidFill>
                  <a:srgbClr val="1A237E"/>
                </a:solidFill>
                <a:latin typeface="PT Serif"/>
              </a:rPr>
              <a:t> Implementation setup </a:t>
            </a:r>
            <a:endParaRPr lang="en-US" sz="2900" b="1" dirty="0">
              <a:solidFill>
                <a:srgbClr val="1A237E"/>
              </a:solidFill>
              <a:latin typeface="PT Serif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>
                <a:solidFill>
                  <a:schemeClr val="accent1">
                    <a:lumMod val="50000"/>
                  </a:schemeClr>
                </a:solidFill>
              </a:rPr>
              <a:t>11</a:t>
            </a:fld>
            <a:endParaRPr lang="en-US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7" name="Google Shape;103;p14">
            <a:extLst>
              <a:ext uri="{FF2B5EF4-FFF2-40B4-BE49-F238E27FC236}">
                <a16:creationId xmlns:a16="http://schemas.microsoft.com/office/drawing/2014/main" id="{F9C5E70E-F1B3-4827-B1EB-012D84888A2F}"/>
              </a:ext>
            </a:extLst>
          </p:cNvPr>
          <p:cNvCxnSpPr/>
          <p:nvPr/>
        </p:nvCxnSpPr>
        <p:spPr>
          <a:xfrm>
            <a:off x="198010" y="928740"/>
            <a:ext cx="11843462" cy="0"/>
          </a:xfrm>
          <a:prstGeom prst="straightConnector1">
            <a:avLst/>
          </a:prstGeom>
          <a:noFill/>
          <a:ln w="9525" cap="flat" cmpd="sng">
            <a:solidFill>
              <a:srgbClr val="1F386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A48A6E0-BA0F-438C-B0B4-F63F28784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7D1BF-ADD1-4F05-A7F9-6D218852290B}" type="datetime1">
              <a:rPr lang="en-IN" smtClean="0"/>
              <a:t>28-04-2026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5604BED-DB69-4DD5-BF4A-EDA696E1E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[Project Title]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C9463D-D2DB-7B2F-C115-A14E320CEA9A}"/>
              </a:ext>
            </a:extLst>
          </p:cNvPr>
          <p:cNvSpPr txBox="1"/>
          <p:nvPr/>
        </p:nvSpPr>
        <p:spPr>
          <a:xfrm>
            <a:off x="118972" y="1008308"/>
            <a:ext cx="10664047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Machine Learning / Detection Modules: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/>
              <a:t>SentenceTransformers</a:t>
            </a:r>
            <a:r>
              <a:rPr lang="en-US" dirty="0"/>
              <a:t> for bio similarity using text embeddings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/>
              <a:t>fuzzywuzzy</a:t>
            </a:r>
            <a:r>
              <a:rPr lang="en-US" dirty="0"/>
              <a:t> for username similarity detection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/>
              <a:t>DeepFace</a:t>
            </a:r>
            <a:r>
              <a:rPr lang="en-US" dirty="0"/>
              <a:t> for profile photo comparison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Rule-based behavioral analysis for follower ratio and account age checks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944A2D-F66A-617F-588A-A45FE1C24AB9}"/>
              </a:ext>
            </a:extLst>
          </p:cNvPr>
          <p:cNvSpPr txBox="1"/>
          <p:nvPr/>
        </p:nvSpPr>
        <p:spPr>
          <a:xfrm>
            <a:off x="198010" y="3574680"/>
            <a:ext cx="11147126" cy="1988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Dataset Used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Dynamic, real-time dataset generated during each scan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Data scraped from public Instagram profiles using </a:t>
            </a:r>
            <a:r>
              <a:rPr lang="en-US" dirty="0" err="1"/>
              <a:t>Apify</a:t>
            </a:r>
            <a:r>
              <a:rPr lang="en-US" dirty="0"/>
              <a:t>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Includes username, display name, bio, follower/following counts, account age, posts, and profile photo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Stored in MongoDB as part of scan history and result records</a:t>
            </a:r>
          </a:p>
        </p:txBody>
      </p:sp>
    </p:spTree>
    <p:extLst>
      <p:ext uri="{BB962C8B-B14F-4D97-AF65-F5344CB8AC3E}">
        <p14:creationId xmlns:p14="http://schemas.microsoft.com/office/powerpoint/2010/main" val="2693566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010" y="107951"/>
            <a:ext cx="10972800" cy="1143000"/>
          </a:xfrm>
        </p:spPr>
        <p:txBody>
          <a:bodyPr>
            <a:normAutofit/>
          </a:bodyPr>
          <a:lstStyle/>
          <a:p>
            <a:pPr algn="l"/>
            <a:r>
              <a:rPr lang="en-IN" sz="2900" b="1" dirty="0">
                <a:solidFill>
                  <a:srgbClr val="1A237E"/>
                </a:solidFill>
                <a:latin typeface="PT Serif"/>
              </a:rPr>
              <a:t> Overall System </a:t>
            </a:r>
            <a:r>
              <a:rPr lang="en-IN" sz="2900" b="1" dirty="0" err="1">
                <a:solidFill>
                  <a:srgbClr val="1A237E"/>
                </a:solidFill>
                <a:latin typeface="PT Serif"/>
              </a:rPr>
              <a:t>Archetecture</a:t>
            </a:r>
            <a:r>
              <a:rPr lang="en-IN" sz="2900" b="1" dirty="0">
                <a:solidFill>
                  <a:srgbClr val="1A237E"/>
                </a:solidFill>
                <a:latin typeface="PT Serif"/>
              </a:rPr>
              <a:t> Diagram </a:t>
            </a:r>
            <a:endParaRPr lang="en-US" sz="2900" b="1" dirty="0">
              <a:solidFill>
                <a:srgbClr val="1A237E"/>
              </a:solidFill>
              <a:latin typeface="PT Serif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>
                <a:solidFill>
                  <a:schemeClr val="accent1">
                    <a:lumMod val="50000"/>
                  </a:schemeClr>
                </a:solidFill>
              </a:rPr>
              <a:t>12</a:t>
            </a:fld>
            <a:endParaRPr lang="en-US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7" name="Google Shape;103;p14">
            <a:extLst>
              <a:ext uri="{FF2B5EF4-FFF2-40B4-BE49-F238E27FC236}">
                <a16:creationId xmlns:a16="http://schemas.microsoft.com/office/drawing/2014/main" id="{F9C5E70E-F1B3-4827-B1EB-012D84888A2F}"/>
              </a:ext>
            </a:extLst>
          </p:cNvPr>
          <p:cNvCxnSpPr/>
          <p:nvPr/>
        </p:nvCxnSpPr>
        <p:spPr>
          <a:xfrm>
            <a:off x="198010" y="928740"/>
            <a:ext cx="11843462" cy="0"/>
          </a:xfrm>
          <a:prstGeom prst="straightConnector1">
            <a:avLst/>
          </a:prstGeom>
          <a:noFill/>
          <a:ln w="9525" cap="flat" cmpd="sng">
            <a:solidFill>
              <a:srgbClr val="1F386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A48A6E0-BA0F-438C-B0B4-F63F28784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7D1BF-ADD1-4F05-A7F9-6D218852290B}" type="datetime1">
              <a:rPr lang="en-IN" smtClean="0"/>
              <a:t>28-04-2026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5604BED-DB69-4DD5-BF4A-EDA696E1E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[Project Title]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6081F5-CEEC-68C5-CA58-FFAE5190F4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6812" y="1250951"/>
            <a:ext cx="7565858" cy="5043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0961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010" y="84887"/>
            <a:ext cx="10972800" cy="1143000"/>
          </a:xfrm>
        </p:spPr>
        <p:txBody>
          <a:bodyPr>
            <a:normAutofit/>
          </a:bodyPr>
          <a:lstStyle/>
          <a:p>
            <a:pPr algn="l"/>
            <a:r>
              <a:rPr lang="en-IN" sz="2900" b="1" dirty="0">
                <a:solidFill>
                  <a:srgbClr val="1A237E"/>
                </a:solidFill>
                <a:latin typeface="PT Serif"/>
              </a:rPr>
              <a:t> System Working Web Dash Board:</a:t>
            </a:r>
            <a:endParaRPr lang="en-US" sz="2900" b="1" dirty="0">
              <a:solidFill>
                <a:srgbClr val="1A237E"/>
              </a:solidFill>
              <a:latin typeface="PT Serif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>
                <a:solidFill>
                  <a:schemeClr val="accent1">
                    <a:lumMod val="50000"/>
                  </a:schemeClr>
                </a:solidFill>
              </a:rPr>
              <a:t>13</a:t>
            </a:fld>
            <a:endParaRPr lang="en-US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7" name="Google Shape;103;p14">
            <a:extLst>
              <a:ext uri="{FF2B5EF4-FFF2-40B4-BE49-F238E27FC236}">
                <a16:creationId xmlns:a16="http://schemas.microsoft.com/office/drawing/2014/main" id="{F9C5E70E-F1B3-4827-B1EB-012D84888A2F}"/>
              </a:ext>
            </a:extLst>
          </p:cNvPr>
          <p:cNvCxnSpPr/>
          <p:nvPr/>
        </p:nvCxnSpPr>
        <p:spPr>
          <a:xfrm>
            <a:off x="198010" y="928740"/>
            <a:ext cx="11843462" cy="0"/>
          </a:xfrm>
          <a:prstGeom prst="straightConnector1">
            <a:avLst/>
          </a:prstGeom>
          <a:noFill/>
          <a:ln w="9525" cap="flat" cmpd="sng">
            <a:solidFill>
              <a:srgbClr val="1F386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A48A6E0-BA0F-438C-B0B4-F63F28784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DF9D0-5D95-472B-9B4A-0C6D2A01CC85}" type="datetime1">
              <a:rPr lang="en-IN" smtClean="0"/>
              <a:t>28-04-2026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5604BED-DB69-4DD5-BF4A-EDA696E1E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[Project Title]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ECDD0A4-08E9-9F66-1E45-3A0BC4518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269" y="1972421"/>
            <a:ext cx="7736607" cy="406171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277C3A4-0166-12AE-EABF-503F9718A099}"/>
              </a:ext>
            </a:extLst>
          </p:cNvPr>
          <p:cNvSpPr txBox="1"/>
          <p:nvPr/>
        </p:nvSpPr>
        <p:spPr>
          <a:xfrm>
            <a:off x="2986896" y="1388495"/>
            <a:ext cx="6094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HOME PAGE</a:t>
            </a:r>
          </a:p>
        </p:txBody>
      </p:sp>
    </p:spTree>
    <p:extLst>
      <p:ext uri="{BB962C8B-B14F-4D97-AF65-F5344CB8AC3E}">
        <p14:creationId xmlns:p14="http://schemas.microsoft.com/office/powerpoint/2010/main" val="15913842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010" y="107951"/>
            <a:ext cx="10972800" cy="1143000"/>
          </a:xfrm>
        </p:spPr>
        <p:txBody>
          <a:bodyPr>
            <a:normAutofit/>
          </a:bodyPr>
          <a:lstStyle/>
          <a:p>
            <a:pPr algn="l"/>
            <a:r>
              <a:rPr lang="en-IN" sz="2900" b="1" dirty="0">
                <a:solidFill>
                  <a:srgbClr val="1A237E"/>
                </a:solidFill>
                <a:latin typeface="PT Serif"/>
              </a:rPr>
              <a:t> System Working Web Dash Board:</a:t>
            </a:r>
            <a:endParaRPr lang="en-US" sz="2900" b="1" dirty="0">
              <a:solidFill>
                <a:srgbClr val="1A237E"/>
              </a:solidFill>
              <a:latin typeface="PT Serif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>
                <a:solidFill>
                  <a:schemeClr val="accent1">
                    <a:lumMod val="50000"/>
                  </a:schemeClr>
                </a:solidFill>
              </a:rPr>
              <a:t>14</a:t>
            </a:fld>
            <a:endParaRPr lang="en-US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7" name="Google Shape;103;p14">
            <a:extLst>
              <a:ext uri="{FF2B5EF4-FFF2-40B4-BE49-F238E27FC236}">
                <a16:creationId xmlns:a16="http://schemas.microsoft.com/office/drawing/2014/main" id="{F9C5E70E-F1B3-4827-B1EB-012D84888A2F}"/>
              </a:ext>
            </a:extLst>
          </p:cNvPr>
          <p:cNvCxnSpPr/>
          <p:nvPr/>
        </p:nvCxnSpPr>
        <p:spPr>
          <a:xfrm>
            <a:off x="198010" y="928740"/>
            <a:ext cx="11843462" cy="0"/>
          </a:xfrm>
          <a:prstGeom prst="straightConnector1">
            <a:avLst/>
          </a:prstGeom>
          <a:noFill/>
          <a:ln w="9525" cap="flat" cmpd="sng">
            <a:solidFill>
              <a:srgbClr val="1F386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A48A6E0-BA0F-438C-B0B4-F63F28784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DF9D0-5D95-472B-9B4A-0C6D2A01CC85}" type="datetime1">
              <a:rPr lang="en-IN" smtClean="0"/>
              <a:t>28-04-2026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5604BED-DB69-4DD5-BF4A-EDA696E1E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[Project Title]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980C0C-7EAF-AE62-CA85-54C94070D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134" y="1974981"/>
            <a:ext cx="7731731" cy="40591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311E90E-5120-FC63-29B3-B925EDF4D209}"/>
              </a:ext>
            </a:extLst>
          </p:cNvPr>
          <p:cNvSpPr txBox="1"/>
          <p:nvPr/>
        </p:nvSpPr>
        <p:spPr>
          <a:xfrm>
            <a:off x="3829931" y="1308709"/>
            <a:ext cx="45796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REAL INSTAGRAM PROFILE</a:t>
            </a:r>
          </a:p>
        </p:txBody>
      </p:sp>
    </p:spTree>
    <p:extLst>
      <p:ext uri="{BB962C8B-B14F-4D97-AF65-F5344CB8AC3E}">
        <p14:creationId xmlns:p14="http://schemas.microsoft.com/office/powerpoint/2010/main" val="12633510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010" y="107951"/>
            <a:ext cx="10972800" cy="1143000"/>
          </a:xfrm>
        </p:spPr>
        <p:txBody>
          <a:bodyPr>
            <a:normAutofit/>
          </a:bodyPr>
          <a:lstStyle/>
          <a:p>
            <a:pPr algn="l"/>
            <a:r>
              <a:rPr lang="en-IN" sz="2900" b="1" dirty="0">
                <a:solidFill>
                  <a:srgbClr val="1A237E"/>
                </a:solidFill>
                <a:latin typeface="PT Serif"/>
              </a:rPr>
              <a:t> System Working Web Dash Board:</a:t>
            </a:r>
            <a:endParaRPr lang="en-US" sz="2900" b="1" dirty="0">
              <a:solidFill>
                <a:srgbClr val="1A237E"/>
              </a:solidFill>
              <a:latin typeface="PT Serif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>
                <a:solidFill>
                  <a:schemeClr val="accent1">
                    <a:lumMod val="50000"/>
                  </a:schemeClr>
                </a:solidFill>
              </a:rPr>
              <a:t>15</a:t>
            </a:fld>
            <a:endParaRPr lang="en-US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7" name="Google Shape;103;p14">
            <a:extLst>
              <a:ext uri="{FF2B5EF4-FFF2-40B4-BE49-F238E27FC236}">
                <a16:creationId xmlns:a16="http://schemas.microsoft.com/office/drawing/2014/main" id="{F9C5E70E-F1B3-4827-B1EB-012D84888A2F}"/>
              </a:ext>
            </a:extLst>
          </p:cNvPr>
          <p:cNvCxnSpPr/>
          <p:nvPr/>
        </p:nvCxnSpPr>
        <p:spPr>
          <a:xfrm>
            <a:off x="198010" y="928740"/>
            <a:ext cx="11843462" cy="0"/>
          </a:xfrm>
          <a:prstGeom prst="straightConnector1">
            <a:avLst/>
          </a:prstGeom>
          <a:noFill/>
          <a:ln w="9525" cap="flat" cmpd="sng">
            <a:solidFill>
              <a:srgbClr val="1F386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A48A6E0-BA0F-438C-B0B4-F63F28784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DF9D0-5D95-472B-9B4A-0C6D2A01CC85}" type="datetime1">
              <a:rPr lang="en-IN" smtClean="0"/>
              <a:t>28-04-2026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5604BED-DB69-4DD5-BF4A-EDA696E1E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[Project Title]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D255BE-8054-FBF4-2C53-B996C3DE8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669" y="2071740"/>
            <a:ext cx="7916662" cy="415624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52A2792-7D2B-D6A3-3450-CEDC3B9D89B1}"/>
              </a:ext>
            </a:extLst>
          </p:cNvPr>
          <p:cNvSpPr txBox="1"/>
          <p:nvPr/>
        </p:nvSpPr>
        <p:spPr>
          <a:xfrm>
            <a:off x="3048719" y="1371016"/>
            <a:ext cx="6094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SCANNING PANNEL</a:t>
            </a:r>
          </a:p>
        </p:txBody>
      </p:sp>
    </p:spTree>
    <p:extLst>
      <p:ext uri="{BB962C8B-B14F-4D97-AF65-F5344CB8AC3E}">
        <p14:creationId xmlns:p14="http://schemas.microsoft.com/office/powerpoint/2010/main" val="37707578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010" y="73445"/>
            <a:ext cx="10972800" cy="1143000"/>
          </a:xfrm>
        </p:spPr>
        <p:txBody>
          <a:bodyPr>
            <a:normAutofit/>
          </a:bodyPr>
          <a:lstStyle/>
          <a:p>
            <a:pPr algn="l"/>
            <a:r>
              <a:rPr lang="en-IN" sz="2900" b="1" dirty="0">
                <a:solidFill>
                  <a:srgbClr val="1A237E"/>
                </a:solidFill>
                <a:latin typeface="PT Serif"/>
              </a:rPr>
              <a:t> System Working Web Dash Board:</a:t>
            </a:r>
            <a:endParaRPr lang="en-US" sz="2900" b="1" dirty="0">
              <a:solidFill>
                <a:srgbClr val="1A237E"/>
              </a:solidFill>
              <a:latin typeface="PT Serif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>
                <a:solidFill>
                  <a:schemeClr val="accent1">
                    <a:lumMod val="50000"/>
                  </a:schemeClr>
                </a:solidFill>
              </a:rPr>
              <a:t>16</a:t>
            </a:fld>
            <a:endParaRPr lang="en-US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7" name="Google Shape;103;p14">
            <a:extLst>
              <a:ext uri="{FF2B5EF4-FFF2-40B4-BE49-F238E27FC236}">
                <a16:creationId xmlns:a16="http://schemas.microsoft.com/office/drawing/2014/main" id="{F9C5E70E-F1B3-4827-B1EB-012D84888A2F}"/>
              </a:ext>
            </a:extLst>
          </p:cNvPr>
          <p:cNvCxnSpPr/>
          <p:nvPr/>
        </p:nvCxnSpPr>
        <p:spPr>
          <a:xfrm>
            <a:off x="198010" y="928740"/>
            <a:ext cx="11843462" cy="0"/>
          </a:xfrm>
          <a:prstGeom prst="straightConnector1">
            <a:avLst/>
          </a:prstGeom>
          <a:noFill/>
          <a:ln w="9525" cap="flat" cmpd="sng">
            <a:solidFill>
              <a:srgbClr val="1F386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A48A6E0-BA0F-438C-B0B4-F63F28784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DF9D0-5D95-472B-9B4A-0C6D2A01CC85}" type="datetime1">
              <a:rPr lang="en-IN" smtClean="0"/>
              <a:t>28-04-2026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5604BED-DB69-4DD5-BF4A-EDA696E1E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[Project Title]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B84A31-74CD-DF43-C36C-4E293D1C0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990551"/>
            <a:ext cx="7767799" cy="407809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B343BC8-450C-B275-2C65-52D0B4D271CB}"/>
              </a:ext>
            </a:extLst>
          </p:cNvPr>
          <p:cNvSpPr txBox="1"/>
          <p:nvPr/>
        </p:nvSpPr>
        <p:spPr>
          <a:xfrm>
            <a:off x="2952390" y="1355831"/>
            <a:ext cx="6094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SCANNING PROCESS</a:t>
            </a:r>
          </a:p>
        </p:txBody>
      </p:sp>
    </p:spTree>
    <p:extLst>
      <p:ext uri="{BB962C8B-B14F-4D97-AF65-F5344CB8AC3E}">
        <p14:creationId xmlns:p14="http://schemas.microsoft.com/office/powerpoint/2010/main" val="12245216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010" y="107951"/>
            <a:ext cx="10972800" cy="1143000"/>
          </a:xfrm>
        </p:spPr>
        <p:txBody>
          <a:bodyPr>
            <a:normAutofit/>
          </a:bodyPr>
          <a:lstStyle/>
          <a:p>
            <a:pPr algn="l"/>
            <a:r>
              <a:rPr lang="en-IN" sz="2900" b="1" dirty="0">
                <a:solidFill>
                  <a:srgbClr val="1A237E"/>
                </a:solidFill>
                <a:latin typeface="PT Serif"/>
              </a:rPr>
              <a:t> System Working Web Dash Board:</a:t>
            </a:r>
            <a:endParaRPr lang="en-US" sz="2900" b="1" dirty="0">
              <a:solidFill>
                <a:srgbClr val="1A237E"/>
              </a:solidFill>
              <a:latin typeface="PT Serif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>
                <a:solidFill>
                  <a:schemeClr val="accent1">
                    <a:lumMod val="50000"/>
                  </a:schemeClr>
                </a:solidFill>
              </a:rPr>
              <a:t>17</a:t>
            </a:fld>
            <a:endParaRPr lang="en-US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7" name="Google Shape;103;p14">
            <a:extLst>
              <a:ext uri="{FF2B5EF4-FFF2-40B4-BE49-F238E27FC236}">
                <a16:creationId xmlns:a16="http://schemas.microsoft.com/office/drawing/2014/main" id="{F9C5E70E-F1B3-4827-B1EB-012D84888A2F}"/>
              </a:ext>
            </a:extLst>
          </p:cNvPr>
          <p:cNvCxnSpPr/>
          <p:nvPr/>
        </p:nvCxnSpPr>
        <p:spPr>
          <a:xfrm>
            <a:off x="198010" y="928740"/>
            <a:ext cx="11843462" cy="0"/>
          </a:xfrm>
          <a:prstGeom prst="straightConnector1">
            <a:avLst/>
          </a:prstGeom>
          <a:noFill/>
          <a:ln w="9525" cap="flat" cmpd="sng">
            <a:solidFill>
              <a:srgbClr val="1F386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A48A6E0-BA0F-438C-B0B4-F63F28784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DF9D0-5D95-472B-9B4A-0C6D2A01CC85}" type="datetime1">
              <a:rPr lang="en-IN" smtClean="0"/>
              <a:t>28-04-2026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5604BED-DB69-4DD5-BF4A-EDA696E1E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[Project Title]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660CD4-5C19-4C3E-8D84-773400A9B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4703" y="1995323"/>
            <a:ext cx="7502594" cy="39388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FCA2824-07B4-1CB9-B097-2BA840D38F32}"/>
              </a:ext>
            </a:extLst>
          </p:cNvPr>
          <p:cNvSpPr txBox="1"/>
          <p:nvPr/>
        </p:nvSpPr>
        <p:spPr>
          <a:xfrm>
            <a:off x="3829931" y="1267609"/>
            <a:ext cx="45796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SCAN RESULT</a:t>
            </a:r>
          </a:p>
        </p:txBody>
      </p:sp>
    </p:spTree>
    <p:extLst>
      <p:ext uri="{BB962C8B-B14F-4D97-AF65-F5344CB8AC3E}">
        <p14:creationId xmlns:p14="http://schemas.microsoft.com/office/powerpoint/2010/main" val="12702308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010" y="107951"/>
            <a:ext cx="10972800" cy="1143000"/>
          </a:xfrm>
        </p:spPr>
        <p:txBody>
          <a:bodyPr>
            <a:normAutofit/>
          </a:bodyPr>
          <a:lstStyle/>
          <a:p>
            <a:pPr algn="l"/>
            <a:r>
              <a:rPr lang="en-IN" sz="2900" b="1" dirty="0">
                <a:solidFill>
                  <a:srgbClr val="1A237E"/>
                </a:solidFill>
                <a:latin typeface="PT Serif"/>
              </a:rPr>
              <a:t> System Working Web Dash Board:</a:t>
            </a:r>
            <a:endParaRPr lang="en-US" sz="2900" b="1" dirty="0">
              <a:solidFill>
                <a:srgbClr val="1A237E"/>
              </a:solidFill>
              <a:latin typeface="PT Serif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>
                <a:solidFill>
                  <a:schemeClr val="accent1">
                    <a:lumMod val="50000"/>
                  </a:schemeClr>
                </a:solidFill>
              </a:rPr>
              <a:t>18</a:t>
            </a:fld>
            <a:endParaRPr lang="en-US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7" name="Google Shape;103;p14">
            <a:extLst>
              <a:ext uri="{FF2B5EF4-FFF2-40B4-BE49-F238E27FC236}">
                <a16:creationId xmlns:a16="http://schemas.microsoft.com/office/drawing/2014/main" id="{F9C5E70E-F1B3-4827-B1EB-012D84888A2F}"/>
              </a:ext>
            </a:extLst>
          </p:cNvPr>
          <p:cNvCxnSpPr/>
          <p:nvPr/>
        </p:nvCxnSpPr>
        <p:spPr>
          <a:xfrm>
            <a:off x="198010" y="928740"/>
            <a:ext cx="11843462" cy="0"/>
          </a:xfrm>
          <a:prstGeom prst="straightConnector1">
            <a:avLst/>
          </a:prstGeom>
          <a:noFill/>
          <a:ln w="9525" cap="flat" cmpd="sng">
            <a:solidFill>
              <a:srgbClr val="1F386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A48A6E0-BA0F-438C-B0B4-F63F28784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DF9D0-5D95-472B-9B4A-0C6D2A01CC85}" type="datetime1">
              <a:rPr lang="en-IN" smtClean="0"/>
              <a:t>28-04-2026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5604BED-DB69-4DD5-BF4A-EDA696E1E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[Project Title]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8ECA5B-0659-9AE3-6310-E090C4E8CA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849" y="1902163"/>
            <a:ext cx="7984417" cy="32226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9D65B6-50AF-35A4-3B94-5C983FF6498F}"/>
              </a:ext>
            </a:extLst>
          </p:cNvPr>
          <p:cNvSpPr txBox="1"/>
          <p:nvPr/>
        </p:nvSpPr>
        <p:spPr>
          <a:xfrm>
            <a:off x="2874753" y="1369635"/>
            <a:ext cx="6094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DETACTED FAKE INSTAGRAM PROFILE</a:t>
            </a:r>
          </a:p>
        </p:txBody>
      </p:sp>
    </p:spTree>
    <p:extLst>
      <p:ext uri="{BB962C8B-B14F-4D97-AF65-F5344CB8AC3E}">
        <p14:creationId xmlns:p14="http://schemas.microsoft.com/office/powerpoint/2010/main" val="28075801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010" y="107951"/>
            <a:ext cx="10972800" cy="1143000"/>
          </a:xfrm>
        </p:spPr>
        <p:txBody>
          <a:bodyPr>
            <a:normAutofit/>
          </a:bodyPr>
          <a:lstStyle/>
          <a:p>
            <a:pPr algn="l"/>
            <a:r>
              <a:rPr lang="en-IN" sz="2900" b="1" dirty="0">
                <a:solidFill>
                  <a:srgbClr val="1A237E"/>
                </a:solidFill>
                <a:latin typeface="PT Serif"/>
              </a:rPr>
              <a:t> System Working Web Dash Board:</a:t>
            </a:r>
            <a:endParaRPr lang="en-US" sz="2900" b="1" dirty="0">
              <a:solidFill>
                <a:srgbClr val="1A237E"/>
              </a:solidFill>
              <a:latin typeface="PT Serif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>
                <a:solidFill>
                  <a:schemeClr val="accent1">
                    <a:lumMod val="50000"/>
                  </a:schemeClr>
                </a:solidFill>
              </a:rPr>
              <a:t>19</a:t>
            </a:fld>
            <a:endParaRPr lang="en-US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7" name="Google Shape;103;p14">
            <a:extLst>
              <a:ext uri="{FF2B5EF4-FFF2-40B4-BE49-F238E27FC236}">
                <a16:creationId xmlns:a16="http://schemas.microsoft.com/office/drawing/2014/main" id="{F9C5E70E-F1B3-4827-B1EB-012D84888A2F}"/>
              </a:ext>
            </a:extLst>
          </p:cNvPr>
          <p:cNvCxnSpPr/>
          <p:nvPr/>
        </p:nvCxnSpPr>
        <p:spPr>
          <a:xfrm>
            <a:off x="198010" y="928740"/>
            <a:ext cx="11843462" cy="0"/>
          </a:xfrm>
          <a:prstGeom prst="straightConnector1">
            <a:avLst/>
          </a:prstGeom>
          <a:noFill/>
          <a:ln w="9525" cap="flat" cmpd="sng">
            <a:solidFill>
              <a:srgbClr val="1F386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A48A6E0-BA0F-438C-B0B4-F63F28784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DF9D0-5D95-472B-9B4A-0C6D2A01CC85}" type="datetime1">
              <a:rPr lang="en-IN" smtClean="0"/>
              <a:t>28-04-2026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5604BED-DB69-4DD5-BF4A-EDA696E1E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[Project Title]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64C84B-A546-F972-EC8D-5DFB1B650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615" y="2365111"/>
            <a:ext cx="5480149" cy="287707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98D54C1-91A6-22AE-D37A-CCF18D783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31" y="2365111"/>
            <a:ext cx="5480148" cy="28770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0832BC-5F2E-56A0-0AB7-8E60F80A58EF}"/>
              </a:ext>
            </a:extLst>
          </p:cNvPr>
          <p:cNvSpPr txBox="1"/>
          <p:nvPr/>
        </p:nvSpPr>
        <p:spPr>
          <a:xfrm>
            <a:off x="6629560" y="1754678"/>
            <a:ext cx="45796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DETACTED FAKE PROFILE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CC99BC-5A20-D1CE-6171-21CD826E528D}"/>
              </a:ext>
            </a:extLst>
          </p:cNvPr>
          <p:cNvSpPr txBox="1"/>
          <p:nvPr/>
        </p:nvSpPr>
        <p:spPr>
          <a:xfrm>
            <a:off x="406931" y="1745932"/>
            <a:ext cx="45796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REAL PROFILE</a:t>
            </a:r>
          </a:p>
        </p:txBody>
      </p:sp>
    </p:spTree>
    <p:extLst>
      <p:ext uri="{BB962C8B-B14F-4D97-AF65-F5344CB8AC3E}">
        <p14:creationId xmlns:p14="http://schemas.microsoft.com/office/powerpoint/2010/main" val="42768327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010" y="107951"/>
            <a:ext cx="10972800" cy="1143000"/>
          </a:xfrm>
        </p:spPr>
        <p:txBody>
          <a:bodyPr>
            <a:normAutofit/>
          </a:bodyPr>
          <a:lstStyle/>
          <a:p>
            <a:pPr algn="l"/>
            <a:r>
              <a:rPr lang="en-IN" sz="2900" b="1" dirty="0">
                <a:solidFill>
                  <a:srgbClr val="1A237E"/>
                </a:solidFill>
                <a:latin typeface="PT Serif"/>
              </a:rPr>
              <a:t> System Working Web Dash Board:</a:t>
            </a:r>
            <a:endParaRPr lang="en-US" sz="2900" b="1" dirty="0">
              <a:solidFill>
                <a:srgbClr val="1A237E"/>
              </a:solidFill>
              <a:latin typeface="PT Serif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>
                <a:solidFill>
                  <a:schemeClr val="accent1">
                    <a:lumMod val="50000"/>
                  </a:schemeClr>
                </a:solidFill>
              </a:rPr>
              <a:t>20</a:t>
            </a:fld>
            <a:endParaRPr lang="en-US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7" name="Google Shape;103;p14">
            <a:extLst>
              <a:ext uri="{FF2B5EF4-FFF2-40B4-BE49-F238E27FC236}">
                <a16:creationId xmlns:a16="http://schemas.microsoft.com/office/drawing/2014/main" id="{F9C5E70E-F1B3-4827-B1EB-012D84888A2F}"/>
              </a:ext>
            </a:extLst>
          </p:cNvPr>
          <p:cNvCxnSpPr/>
          <p:nvPr/>
        </p:nvCxnSpPr>
        <p:spPr>
          <a:xfrm>
            <a:off x="198010" y="928740"/>
            <a:ext cx="11843462" cy="0"/>
          </a:xfrm>
          <a:prstGeom prst="straightConnector1">
            <a:avLst/>
          </a:prstGeom>
          <a:noFill/>
          <a:ln w="9525" cap="flat" cmpd="sng">
            <a:solidFill>
              <a:srgbClr val="1F386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A48A6E0-BA0F-438C-B0B4-F63F28784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DF9D0-5D95-472B-9B4A-0C6D2A01CC85}" type="datetime1">
              <a:rPr lang="en-IN" smtClean="0"/>
              <a:t>28-04-2026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5604BED-DB69-4DD5-BF4A-EDA696E1E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[Project Title]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08A18D-BF2F-2167-359C-8C4BB2911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005" y="2211033"/>
            <a:ext cx="7895842" cy="41453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70ED4FE-D715-E10B-8774-497EA3E571C1}"/>
              </a:ext>
            </a:extLst>
          </p:cNvPr>
          <p:cNvSpPr txBox="1"/>
          <p:nvPr/>
        </p:nvSpPr>
        <p:spPr>
          <a:xfrm>
            <a:off x="3142172" y="1535324"/>
            <a:ext cx="6094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HISTORY OF SCANNED PROFILE</a:t>
            </a:r>
          </a:p>
        </p:txBody>
      </p:sp>
    </p:spTree>
    <p:extLst>
      <p:ext uri="{BB962C8B-B14F-4D97-AF65-F5344CB8AC3E}">
        <p14:creationId xmlns:p14="http://schemas.microsoft.com/office/powerpoint/2010/main" val="36797691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010" y="107951"/>
            <a:ext cx="10972800" cy="1143000"/>
          </a:xfrm>
        </p:spPr>
        <p:txBody>
          <a:bodyPr>
            <a:normAutofit/>
          </a:bodyPr>
          <a:lstStyle/>
          <a:p>
            <a:pPr algn="l"/>
            <a:r>
              <a:rPr lang="en-IN" sz="2900" b="1" dirty="0">
                <a:solidFill>
                  <a:srgbClr val="1A237E"/>
                </a:solidFill>
                <a:latin typeface="PT Serif"/>
              </a:rPr>
              <a:t> System Working Web Dash Board:</a:t>
            </a:r>
            <a:endParaRPr lang="en-US" sz="2900" b="1" dirty="0">
              <a:solidFill>
                <a:srgbClr val="1A237E"/>
              </a:solidFill>
              <a:latin typeface="PT Serif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>
                <a:solidFill>
                  <a:schemeClr val="accent1">
                    <a:lumMod val="50000"/>
                  </a:schemeClr>
                </a:solidFill>
              </a:rPr>
              <a:t>21</a:t>
            </a:fld>
            <a:endParaRPr lang="en-US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7" name="Google Shape;103;p14">
            <a:extLst>
              <a:ext uri="{FF2B5EF4-FFF2-40B4-BE49-F238E27FC236}">
                <a16:creationId xmlns:a16="http://schemas.microsoft.com/office/drawing/2014/main" id="{F9C5E70E-F1B3-4827-B1EB-012D84888A2F}"/>
              </a:ext>
            </a:extLst>
          </p:cNvPr>
          <p:cNvCxnSpPr/>
          <p:nvPr/>
        </p:nvCxnSpPr>
        <p:spPr>
          <a:xfrm>
            <a:off x="198010" y="928740"/>
            <a:ext cx="11843462" cy="0"/>
          </a:xfrm>
          <a:prstGeom prst="straightConnector1">
            <a:avLst/>
          </a:prstGeom>
          <a:noFill/>
          <a:ln w="9525" cap="flat" cmpd="sng">
            <a:solidFill>
              <a:srgbClr val="1F386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A48A6E0-BA0F-438C-B0B4-F63F28784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DF9D0-5D95-472B-9B4A-0C6D2A01CC85}" type="datetime1">
              <a:rPr lang="en-IN" smtClean="0"/>
              <a:t>28-04-2026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5604BED-DB69-4DD5-BF4A-EDA696E1E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[Project Title]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27D016-229C-0C20-5F09-EE633693F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823" y="1928614"/>
            <a:ext cx="8118354" cy="42621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A53294-AB95-5C36-2E92-0B86D6150000}"/>
              </a:ext>
            </a:extLst>
          </p:cNvPr>
          <p:cNvSpPr txBox="1"/>
          <p:nvPr/>
        </p:nvSpPr>
        <p:spPr>
          <a:xfrm>
            <a:off x="3048719" y="1360769"/>
            <a:ext cx="6094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DATABASE</a:t>
            </a:r>
          </a:p>
        </p:txBody>
      </p:sp>
    </p:spTree>
    <p:extLst>
      <p:ext uri="{BB962C8B-B14F-4D97-AF65-F5344CB8AC3E}">
        <p14:creationId xmlns:p14="http://schemas.microsoft.com/office/powerpoint/2010/main" val="35762646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010" y="107951"/>
            <a:ext cx="10972800" cy="1143000"/>
          </a:xfrm>
        </p:spPr>
        <p:txBody>
          <a:bodyPr>
            <a:normAutofit/>
          </a:bodyPr>
          <a:lstStyle/>
          <a:p>
            <a:pPr algn="l"/>
            <a:r>
              <a:rPr lang="en-IN" sz="2900" b="1" dirty="0">
                <a:solidFill>
                  <a:srgbClr val="1A237E"/>
                </a:solidFill>
                <a:latin typeface="PT Serif"/>
              </a:rPr>
              <a:t>Conclusion and Future Work</a:t>
            </a:r>
            <a:endParaRPr lang="en-US" sz="2900" b="1" dirty="0">
              <a:solidFill>
                <a:srgbClr val="1A237E"/>
              </a:solidFill>
              <a:latin typeface="PT Serif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>
                <a:solidFill>
                  <a:schemeClr val="accent1">
                    <a:lumMod val="50000"/>
                  </a:schemeClr>
                </a:solidFill>
              </a:rPr>
              <a:t>22</a:t>
            </a:fld>
            <a:endParaRPr lang="en-US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7" name="Google Shape;103;p14">
            <a:extLst>
              <a:ext uri="{FF2B5EF4-FFF2-40B4-BE49-F238E27FC236}">
                <a16:creationId xmlns:a16="http://schemas.microsoft.com/office/drawing/2014/main" id="{F9C5E70E-F1B3-4827-B1EB-012D84888A2F}"/>
              </a:ext>
            </a:extLst>
          </p:cNvPr>
          <p:cNvCxnSpPr/>
          <p:nvPr/>
        </p:nvCxnSpPr>
        <p:spPr>
          <a:xfrm>
            <a:off x="198010" y="928740"/>
            <a:ext cx="11843462" cy="0"/>
          </a:xfrm>
          <a:prstGeom prst="straightConnector1">
            <a:avLst/>
          </a:prstGeom>
          <a:noFill/>
          <a:ln w="9525" cap="flat" cmpd="sng">
            <a:solidFill>
              <a:srgbClr val="1F386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A48A6E0-BA0F-438C-B0B4-F63F28784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66488-B5C8-4314-9567-951DD899D9EB}" type="datetime1">
              <a:rPr lang="en-IN" smtClean="0"/>
              <a:t>28-04-2026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5604BED-DB69-4DD5-BF4A-EDA696E1E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[Project Title]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F5F9C8-291A-557A-AB2D-77C78EC0C2F4}"/>
              </a:ext>
            </a:extLst>
          </p:cNvPr>
          <p:cNvSpPr txBox="1"/>
          <p:nvPr/>
        </p:nvSpPr>
        <p:spPr>
          <a:xfrm>
            <a:off x="198010" y="1057222"/>
            <a:ext cx="9411816" cy="3788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FakeShield</a:t>
            </a:r>
            <a:r>
              <a:rPr lang="en-US" dirty="0"/>
              <a:t> successfully demonstrates how impersonation detection can be automated using similarity analysis, behavioral signals, and photo verification.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Future improvements: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Better progress tracking in UI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Support for more social platforms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Improved test coverage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Advanced filtering and pagination in history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Clear separation of platform-specific logic</a:t>
            </a:r>
          </a:p>
        </p:txBody>
      </p:sp>
    </p:spTree>
    <p:extLst>
      <p:ext uri="{BB962C8B-B14F-4D97-AF65-F5344CB8AC3E}">
        <p14:creationId xmlns:p14="http://schemas.microsoft.com/office/powerpoint/2010/main" val="15518956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010" y="107951"/>
            <a:ext cx="10972800" cy="1143000"/>
          </a:xfrm>
        </p:spPr>
        <p:txBody>
          <a:bodyPr>
            <a:normAutofit/>
          </a:bodyPr>
          <a:lstStyle/>
          <a:p>
            <a:pPr algn="l"/>
            <a:r>
              <a:rPr lang="en-IN" sz="2900" b="1" dirty="0">
                <a:solidFill>
                  <a:srgbClr val="1A237E"/>
                </a:solidFill>
                <a:latin typeface="PT Serif"/>
              </a:rPr>
              <a:t>References</a:t>
            </a:r>
            <a:endParaRPr lang="en-US" sz="2900" b="1" dirty="0">
              <a:solidFill>
                <a:srgbClr val="1A237E"/>
              </a:solidFill>
              <a:latin typeface="PT Serif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>
                <a:solidFill>
                  <a:schemeClr val="accent1">
                    <a:lumMod val="50000"/>
                  </a:schemeClr>
                </a:solidFill>
              </a:rPr>
              <a:t>23</a:t>
            </a:fld>
            <a:endParaRPr lang="en-US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7" name="Google Shape;103;p14">
            <a:extLst>
              <a:ext uri="{FF2B5EF4-FFF2-40B4-BE49-F238E27FC236}">
                <a16:creationId xmlns:a16="http://schemas.microsoft.com/office/drawing/2014/main" id="{F9C5E70E-F1B3-4827-B1EB-012D84888A2F}"/>
              </a:ext>
            </a:extLst>
          </p:cNvPr>
          <p:cNvCxnSpPr/>
          <p:nvPr/>
        </p:nvCxnSpPr>
        <p:spPr>
          <a:xfrm>
            <a:off x="198010" y="928740"/>
            <a:ext cx="11843462" cy="0"/>
          </a:xfrm>
          <a:prstGeom prst="straightConnector1">
            <a:avLst/>
          </a:prstGeom>
          <a:noFill/>
          <a:ln w="9525" cap="flat" cmpd="sng">
            <a:solidFill>
              <a:srgbClr val="1F386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A48A6E0-BA0F-438C-B0B4-F63F28784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11818-FED0-4839-B1F9-3AE80C97B931}" type="datetime1">
              <a:rPr lang="en-IN" smtClean="0"/>
              <a:t>28-04-2026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5604BED-DB69-4DD5-BF4A-EDA696E1E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[Project Title]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2D0662-34EE-4D65-70FE-A6125ECD8FD6}"/>
              </a:ext>
            </a:extLst>
          </p:cNvPr>
          <p:cNvSpPr txBox="1"/>
          <p:nvPr/>
        </p:nvSpPr>
        <p:spPr>
          <a:xfrm>
            <a:off x="304080" y="1121438"/>
            <a:ext cx="10220146" cy="5042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0000400000000000000" pitchFamily="2"/>
              </a:rPr>
              <a:t>[1] Flask, "Flask Documentation," Pallets Projects. [Online]. Accessible at: https://flask.palletsprojects.com/. Last accessed: Apr. 23, 2026.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Mangal" panose="00000400000000000000" pitchFamily="2"/>
            </a:endParaRP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0000400000000000000" pitchFamily="2"/>
              </a:rPr>
              <a:t> 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Mangal" panose="00000400000000000000" pitchFamily="2"/>
            </a:endParaRP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0000400000000000000" pitchFamily="2"/>
              </a:rPr>
              <a:t>[2] React, "React Documentation," Meta. [Online]. Accessible at: https://react.dev/. Last accessed: Apr. 23, 2026.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Mangal" panose="00000400000000000000" pitchFamily="2"/>
            </a:endParaRP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0000400000000000000" pitchFamily="2"/>
              </a:rPr>
              <a:t> 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Mangal" panose="00000400000000000000" pitchFamily="2"/>
            </a:endParaRP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0000400000000000000" pitchFamily="2"/>
              </a:rPr>
              <a:t>[3] MongoDB, "MongoDB Documentation," MongoDB, Inc. [Online]. Accessible at: https://www.mongodb.com/docs/. Last accessed: Apr. 23, 2026.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Mangal" panose="00000400000000000000" pitchFamily="2"/>
            </a:endParaRP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0000400000000000000" pitchFamily="2"/>
              </a:rPr>
              <a:t> 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Mangal" panose="00000400000000000000" pitchFamily="2"/>
            </a:endParaRP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0000400000000000000" pitchFamily="2"/>
              </a:rPr>
              <a:t>[4]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0000400000000000000" pitchFamily="2"/>
              </a:rPr>
              <a:t>Apify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0000400000000000000" pitchFamily="2"/>
              </a:rPr>
              <a:t>, "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0000400000000000000" pitchFamily="2"/>
              </a:rPr>
              <a:t>Apify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0000400000000000000" pitchFamily="2"/>
              </a:rPr>
              <a:t> Documentation,"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0000400000000000000" pitchFamily="2"/>
              </a:rPr>
              <a:t>Apify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0000400000000000000" pitchFamily="2"/>
              </a:rPr>
              <a:t> Technologies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0000400000000000000" pitchFamily="2"/>
              </a:rPr>
              <a:t>s.r.o.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0000400000000000000" pitchFamily="2"/>
              </a:rPr>
              <a:t> [Online]. Accessible at: https://docs.apify.com/. Last accessed: Apr. 23, 2026.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Mangal" panose="00000400000000000000" pitchFamily="2"/>
            </a:endParaRP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0000400000000000000" pitchFamily="2"/>
              </a:rPr>
              <a:t> 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Mangal" panose="00000400000000000000" pitchFamily="2"/>
            </a:endParaRP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0000400000000000000" pitchFamily="2"/>
              </a:rPr>
              <a:t>[5] Sentence-Transformers, "Sentence-Transformers Documentation,"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0000400000000000000" pitchFamily="2"/>
              </a:rPr>
              <a:t>UKPLab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0000400000000000000" pitchFamily="2"/>
              </a:rPr>
              <a:t>. [Online]. Accessible at: https://www.sbert.net/. Last accessed: Apr. 23, 2026.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Mangal" panose="00000400000000000000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9809457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49647" y="2857500"/>
            <a:ext cx="10972800" cy="1143000"/>
          </a:xfrm>
        </p:spPr>
        <p:txBody>
          <a:bodyPr>
            <a:normAutofit/>
          </a:bodyPr>
          <a:lstStyle/>
          <a:p>
            <a:pPr algn="l"/>
            <a:r>
              <a:rPr lang="en-US" sz="2900" b="1" dirty="0">
                <a:solidFill>
                  <a:srgbClr val="1A237E"/>
                </a:solidFill>
                <a:latin typeface="PT Serif"/>
              </a:rPr>
              <a:t>Thank You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>
                <a:solidFill>
                  <a:schemeClr val="accent1">
                    <a:lumMod val="50000"/>
                  </a:schemeClr>
                </a:solidFill>
              </a:rPr>
              <a:t>24</a:t>
            </a:fld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7" name="Google Shape;103;p14">
            <a:extLst>
              <a:ext uri="{FF2B5EF4-FFF2-40B4-BE49-F238E27FC236}">
                <a16:creationId xmlns:a16="http://schemas.microsoft.com/office/drawing/2014/main" id="{F9C5E70E-F1B3-4827-B1EB-012D84888A2F}"/>
              </a:ext>
            </a:extLst>
          </p:cNvPr>
          <p:cNvCxnSpPr>
            <a:cxnSpLocks/>
          </p:cNvCxnSpPr>
          <p:nvPr/>
        </p:nvCxnSpPr>
        <p:spPr>
          <a:xfrm>
            <a:off x="203200" y="3397159"/>
            <a:ext cx="8940800" cy="0"/>
          </a:xfrm>
          <a:prstGeom prst="straightConnector1">
            <a:avLst/>
          </a:prstGeom>
          <a:noFill/>
          <a:ln w="9525" cap="flat" cmpd="sng">
            <a:solidFill>
              <a:srgbClr val="1F386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A48A6E0-BA0F-438C-B0B4-F63F28784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190D8-9207-4A24-A830-B9500F82A931}" type="datetime1">
              <a:rPr lang="en-IN" smtClean="0"/>
              <a:t>28-04-2026</a:t>
            </a:fld>
            <a:endParaRPr lang="en-IN" dirty="0"/>
          </a:p>
        </p:txBody>
      </p:sp>
      <p:pic>
        <p:nvPicPr>
          <p:cNvPr id="13" name="Graphic 12" descr="Cloud with solid fill">
            <a:extLst>
              <a:ext uri="{FF2B5EF4-FFF2-40B4-BE49-F238E27FC236}">
                <a16:creationId xmlns:a16="http://schemas.microsoft.com/office/drawing/2014/main" id="{642092EA-1611-4FFA-91D9-829C5D3967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583" y="266701"/>
            <a:ext cx="4038600" cy="4038600"/>
          </a:xfrm>
          <a:prstGeom prst="rect">
            <a:avLst/>
          </a:prstGeom>
        </p:spPr>
      </p:pic>
      <p:pic>
        <p:nvPicPr>
          <p:cNvPr id="15" name="Graphic 14" descr="Cloud Computing with solid fill">
            <a:extLst>
              <a:ext uri="{FF2B5EF4-FFF2-40B4-BE49-F238E27FC236}">
                <a16:creationId xmlns:a16="http://schemas.microsoft.com/office/drawing/2014/main" id="{0FE055CC-1825-4DB7-88A1-B6E1534668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49845" y="1789941"/>
            <a:ext cx="1398153" cy="1398153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65F91F-6E92-4645-AD3B-4D67B03AF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[Project Title]</a:t>
            </a:r>
          </a:p>
        </p:txBody>
      </p:sp>
    </p:spTree>
    <p:extLst>
      <p:ext uri="{BB962C8B-B14F-4D97-AF65-F5344CB8AC3E}">
        <p14:creationId xmlns:p14="http://schemas.microsoft.com/office/powerpoint/2010/main" val="4127680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1248</TotalTime>
  <Words>1530</Words>
  <Application>Microsoft Office PowerPoint</Application>
  <PresentationFormat>Widescreen</PresentationFormat>
  <Paragraphs>254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Arial</vt:lpstr>
      <vt:lpstr>Arial-BoldMT</vt:lpstr>
      <vt:lpstr>Calibri</vt:lpstr>
      <vt:lpstr>Calibri Light</vt:lpstr>
      <vt:lpstr>Century</vt:lpstr>
      <vt:lpstr>Mona Sans VF</vt:lpstr>
      <vt:lpstr>PT Serif</vt:lpstr>
      <vt:lpstr>SHREE_GUJ_OTF_0770</vt:lpstr>
      <vt:lpstr>Times New Roman</vt:lpstr>
      <vt:lpstr>Office Theme</vt:lpstr>
      <vt:lpstr>PowerPoint Presentation</vt:lpstr>
      <vt:lpstr>Outline</vt:lpstr>
      <vt:lpstr>Introduction</vt:lpstr>
      <vt:lpstr>Problem Definition &amp; Motivation </vt:lpstr>
      <vt:lpstr>Problem Definition &amp; Motivation </vt:lpstr>
      <vt:lpstr>Problem Definition &amp; Motivation </vt:lpstr>
      <vt:lpstr>Aim &amp; Objective</vt:lpstr>
      <vt:lpstr>Literature Survey </vt:lpstr>
      <vt:lpstr>Proposed System</vt:lpstr>
      <vt:lpstr> Implementation setup </vt:lpstr>
      <vt:lpstr> Implementation setup </vt:lpstr>
      <vt:lpstr> Overall System Archetecture Diagram </vt:lpstr>
      <vt:lpstr> System Working Web Dash Board:</vt:lpstr>
      <vt:lpstr> System Working Web Dash Board:</vt:lpstr>
      <vt:lpstr> System Working Web Dash Board:</vt:lpstr>
      <vt:lpstr> System Working Web Dash Board:</vt:lpstr>
      <vt:lpstr> System Working Web Dash Board:</vt:lpstr>
      <vt:lpstr> System Working Web Dash Board:</vt:lpstr>
      <vt:lpstr> System Working Web Dash Board:</vt:lpstr>
      <vt:lpstr> System Working Web Dash Board:</vt:lpstr>
      <vt:lpstr> System Working Web Dash Board:</vt:lpstr>
      <vt:lpstr>Conclusion and Future Work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Tanmay Modi</cp:lastModifiedBy>
  <cp:revision>100</cp:revision>
  <dcterms:created xsi:type="dcterms:W3CDTF">2025-07-14T05:59:10Z</dcterms:created>
  <dcterms:modified xsi:type="dcterms:W3CDTF">2026-04-28T06:20:09Z</dcterms:modified>
</cp:coreProperties>
</file>